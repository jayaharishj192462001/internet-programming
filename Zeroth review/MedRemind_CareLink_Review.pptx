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2B5DBF9-B9D1-30C8-A3DF-E2F8C6569B58}">
          <p14:sldIdLst>
            <p14:sldId id="256"/>
            <p14:sldId id="257"/>
            <p14:sldId id="258"/>
            <p14:sldId id="259"/>
          </p14:sldIdLst>
        </p14:section>
        <p14:section name="Literature" id="{FCFE5FD3-718A-0E84-8C53-C34ADF8FD303}">
          <p14:sldIdLst>
            <p14:sldId id="260"/>
          </p14:sldIdLst>
        </p14:section>
        <p14:section name="Design" id="{1B4806BC-0E26-309A-1880-B88B6EC13E6B}">
          <p14:sldIdLst>
            <p14:sldId id="261"/>
            <p14:sldId id="262"/>
            <p14:sldId id="263"/>
          </p14:sldIdLst>
        </p14:section>
        <p14:section name="Plan and References" id="{7AFBFF45-A0B7-E537-86D0-4637101DFDC7}">
          <p14:sldIdLst>
            <p14:sldId id="264"/>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7" d="100"/>
          <a:sy n="107" d="100"/>
        </p:scale>
        <p:origin x="10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233801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Welcome the panel and state the project title and what it addresses: medication reminders plus family caregiver coordination.
• Introduce the team and guide (fill in names on this slide before presenting).
• Outline the flow: problem, objectives, literature, solution, architecture, tools, work plan.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Four everyday challenges: forgetting schedules, juggling several prescriptions, tracking refills, and keeping caregivers informed.
• These are usually handled with separate alarms, notes and phone calls.
• Define the problem: no single, coordinated system for patient and caregiver.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Five objectives, each tied to a concrete check we can demonstrate in the working system.
• Stress the consent requirement: caregivers are notified only if the patient has agreed.
• These objectives map directly to the features on the Proposed Solution slide.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Why centralize: convenience for the family and one source of truth for schedules.
• Timely reminders and caregiver coordination are the two practical gains.
• We claim visibility, not clinical outcomes: the system shows what was taken and what was missed.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Five verified sources: four peer-reviewed publications and one arXiv preprint, labelled as such.
• Medisafe is the only commercial app: it appears here through a published academic evaluation [2].
• Common gap: reminders are well covered, but caregiver escalation for unconfirmed doses without extra hardware is not a focus. That is where this project sits.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One dashboard serves both roles: patients schedule and confirm, caregivers receive alerts and see history.
• Core loop: schedule, remind, confirm, detect missed doses, notify caregiver.
• Refill tracking and adherence reports give the family ongoing visibility.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Top row is the request path: user, React frontend, Express backend, MongoDB.
• The backend runs Node-Cron checks, calls the notification service (Twilio SMS, Nodemailer email) and reads/writes schedule and adherence records.
• Two flows: normal reminders, and escalation when a dose stays unconfirmed past the grace window and the caregiver has consented.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Technologies are grouped by purpose; the whole stack is JavaScript, so one language across frontend and backend.
• Node-Cron drives scheduled checks; Twilio sends SMS and Nodemailer sends email.
• JWT handles sessions and bcrypt hashes passwords. No hardware is part of this design.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Seven stages from requirements to final documentation, ordered as the build will proceed.
• Review numbers, dates and status are placeholders to be agreed with the guide; no progress is claimed here.
• Integration, testing and security checks are kept as their own stage before final review.</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[1]-[4] are published academic work; [5] is an arXiv preprint and is flagged as such.
• [6]-[11] are official documentation or standards for the tools on the Tools slide.
• All entries were checked against their publisher or repository pages; add any further sources your guide requests.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827F0-17D0-E185-A1AD-A893602CB0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FFB76C-AB94-17D0-2984-125F4D1878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4F4E74-8771-6363-A6F2-4C9ADEA47F39}"/>
              </a:ext>
            </a:extLst>
          </p:cNvPr>
          <p:cNvSpPr>
            <a:spLocks noGrp="1"/>
          </p:cNvSpPr>
          <p:nvPr>
            <p:ph type="body" idx="1"/>
          </p:nvPr>
        </p:nvSpPr>
        <p:spPr/>
        <p:txBody>
          <a:bodyPr/>
          <a:lstStyle/>
          <a:p>
            <a:r>
              <a:rPr lang="en-US" dirty="0"/>
              <a:t>• Sources [1]-[4] are published academic work; [5] is an arXiv preprint and is flagged as such.
• [6]-[11] are official documentation or standards for the tools on the Tools slide.
• All entries were checked against their publisher or repository pages; add any further sources your guide requests.</a:t>
            </a:r>
          </a:p>
        </p:txBody>
      </p:sp>
      <p:sp>
        <p:nvSpPr>
          <p:cNvPr id="4" name="Slide Number Placeholder 3">
            <a:extLst>
              <a:ext uri="{FF2B5EF4-FFF2-40B4-BE49-F238E27FC236}">
                <a16:creationId xmlns:a16="http://schemas.microsoft.com/office/drawing/2014/main" id="{B8414567-311E-5BC3-59C2-AA71068056F3}"/>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021814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LIDE">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143000"/>
            <a:ext cx="5120640" cy="1463040"/>
          </a:xfrm>
          <a:prstGeom prst="rect">
            <a:avLst/>
          </a:prstGeom>
          <a:noFill/>
          <a:ln/>
        </p:spPr>
        <p:txBody>
          <a:bodyPr wrap="square" rtlCol="0"/>
          <a:lstStyle>
            <a:lvl1pPr marL="0" indent="0" algn="l">
              <a:buNone/>
              <a:defRPr lang="en-US" sz="3600" b="1" dirty="0">
                <a:solidFill>
                  <a:schemeClr val="tx1"/>
                </a:solidFill>
              </a:defRPr>
            </a:lvl1pPr>
          </a:lstStyle>
          <a:p>
            <a:pPr marL="0" indent="0" algn="l">
              <a:buNone/>
            </a:pPr>
            <a:endParaRPr lang="en-US" sz="3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_ONLY">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594360"/>
          </a:xfrm>
          <a:prstGeom prst="rect">
            <a:avLst/>
          </a:prstGeom>
          <a:noFill/>
          <a:ln/>
        </p:spPr>
        <p:txBody>
          <a:bodyPr wrap="square" rtlCol="0"/>
          <a:lstStyle>
            <a:lvl1pPr marL="0" indent="0" algn="l">
              <a:buNone/>
              <a:defRPr lang="en-US" sz="3200" b="1" dirty="0">
                <a:solidFill>
                  <a:schemeClr val="tx1"/>
                </a:solidFill>
              </a:defRPr>
            </a:lvl1pPr>
          </a:lstStyle>
          <a:p>
            <a:pPr marL="0" indent="0" algn="l">
              <a:buNone/>
            </a:pPr>
            <a:endParaRPr lang="en-US" sz="32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B7B"/>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B7B"/>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6.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0.png"/><Relationship Id="rId7"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8.png"/><Relationship Id="rId9"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5.png"/><Relationship Id="rId7"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3.png"/><Relationship Id="rId5" Type="http://schemas.openxmlformats.org/officeDocument/2006/relationships/image" Target="../media/image17.png"/><Relationship Id="rId4" Type="http://schemas.openxmlformats.org/officeDocument/2006/relationships/image" Target="../media/image16.png"/><Relationship Id="rId9"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285373" y="1143000"/>
            <a:ext cx="5527963" cy="891540"/>
          </a:xfrm>
          <a:prstGeom prst="rect">
            <a:avLst/>
          </a:prstGeom>
          <a:noFill/>
          <a:ln/>
        </p:spPr>
        <p:txBody>
          <a:bodyPr wrap="square" lIns="0" tIns="0" rIns="0" bIns="0" rtlCol="0" anchor="t"/>
          <a:lstStyle/>
          <a:p>
            <a:r>
              <a:rPr lang="en-IN" sz="1050" dirty="0">
                <a:latin typeface="Times New Roman" panose="02020603050405020304" pitchFamily="18" charset="0"/>
                <a:cs typeface="Times New Roman" panose="02020603050405020304" pitchFamily="18" charset="0"/>
              </a:rPr>
              <a:t>CSA4302 - INTERNET PROGRAMMING</a:t>
            </a:r>
            <a:br>
              <a:rPr lang="en-US" dirty="0">
                <a:latin typeface="Times New Roman" panose="02020603050405020304" pitchFamily="18" charset="0"/>
                <a:cs typeface="Times New Roman" panose="02020603050405020304" pitchFamily="18" charset="0"/>
              </a:rPr>
            </a:br>
            <a:r>
              <a:rPr lang="en-US" dirty="0" err="1">
                <a:latin typeface="Times New Roman" panose="02020603050405020304" pitchFamily="18" charset="0"/>
                <a:cs typeface="Times New Roman" panose="02020603050405020304" pitchFamily="18" charset="0"/>
              </a:rPr>
              <a:t>CareSync</a:t>
            </a:r>
            <a:r>
              <a:rPr lang="en-US" dirty="0">
                <a:latin typeface="Times New Roman" panose="02020603050405020304" pitchFamily="18" charset="0"/>
                <a:cs typeface="Times New Roman" panose="02020603050405020304" pitchFamily="18" charset="0"/>
              </a:rPr>
              <a:t> Medicine Tracker</a:t>
            </a:r>
            <a:br>
              <a:rPr lang="en-US" dirty="0">
                <a:latin typeface="Times New Roman" panose="02020603050405020304" pitchFamily="18" charset="0"/>
                <a:cs typeface="Times New Roman" panose="02020603050405020304" pitchFamily="18" charset="0"/>
              </a:rPr>
            </a:br>
            <a:r>
              <a:rPr lang="en-US" sz="1600" b="1" dirty="0">
                <a:solidFill>
                  <a:schemeClr val="accent4"/>
                </a:solidFill>
                <a:latin typeface="Times New Roman" panose="02020603050405020304" pitchFamily="18" charset="0"/>
                <a:cs typeface="Times New Roman" panose="02020603050405020304" pitchFamily="18" charset="0"/>
              </a:rPr>
              <a:t>Family Medication &amp; Adherence Tracker</a:t>
            </a:r>
            <a:endParaRPr lang="en-US" sz="2400" dirty="0">
              <a:latin typeface="Times New Roman" panose="02020603050405020304" pitchFamily="18" charset="0"/>
              <a:cs typeface="Times New Roman" panose="02020603050405020304" pitchFamily="18" charset="0"/>
            </a:endParaRPr>
          </a:p>
        </p:txBody>
      </p:sp>
      <p:sp>
        <p:nvSpPr>
          <p:cNvPr id="4" name="Text 2"/>
          <p:cNvSpPr txBox="1"/>
          <p:nvPr/>
        </p:nvSpPr>
        <p:spPr>
          <a:xfrm>
            <a:off x="548640" y="3108960"/>
            <a:ext cx="5120640" cy="1463040"/>
          </a:xfrm>
          <a:prstGeom prst="rect">
            <a:avLst/>
          </a:prstGeom>
          <a:noFill/>
          <a:ln/>
        </p:spPr>
        <p:txBody>
          <a:bodyPr wrap="square" lIns="0" tIns="0" rIns="0" bIns="0" numCol="2" rtlCol="0" anchor="t"/>
          <a:lstStyle/>
          <a:p>
            <a:pPr>
              <a:spcAft>
                <a:spcPts val="600"/>
              </a:spcAft>
            </a:pPr>
            <a:r>
              <a:rPr lang="en-US" sz="1400" b="1" dirty="0">
                <a:solidFill>
                  <a:schemeClr val="tx2"/>
                </a:solidFill>
                <a:latin typeface="Times New Roman" panose="02020603050405020304" pitchFamily="18" charset="0"/>
                <a:cs typeface="Times New Roman" panose="02020603050405020304" pitchFamily="18" charset="0"/>
              </a:rPr>
              <a:t>Team members: </a:t>
            </a:r>
          </a:p>
          <a:p>
            <a:pPr>
              <a:spcAft>
                <a:spcPts val="600"/>
              </a:spcAft>
            </a:pPr>
            <a:r>
              <a:rPr lang="en-US" sz="1400" dirty="0">
                <a:solidFill>
                  <a:schemeClr val="tx2"/>
                </a:solidFill>
                <a:latin typeface="Times New Roman" panose="02020603050405020304" pitchFamily="18" charset="0"/>
                <a:cs typeface="Times New Roman" panose="02020603050405020304" pitchFamily="18" charset="0"/>
              </a:rPr>
              <a:t>Kishore P (192121074)</a:t>
            </a:r>
          </a:p>
          <a:p>
            <a:pPr>
              <a:spcAft>
                <a:spcPts val="600"/>
              </a:spcAft>
            </a:pPr>
            <a:r>
              <a:rPr lang="en-US" sz="1400" dirty="0">
                <a:solidFill>
                  <a:schemeClr val="tx2"/>
                </a:solidFill>
                <a:latin typeface="Times New Roman" panose="02020603050405020304" pitchFamily="18" charset="0"/>
                <a:cs typeface="Times New Roman" panose="02020603050405020304" pitchFamily="18" charset="0"/>
              </a:rPr>
              <a:t>Jaya Harish J (192462001)</a:t>
            </a:r>
          </a:p>
          <a:p>
            <a:pPr>
              <a:spcAft>
                <a:spcPts val="600"/>
              </a:spcAft>
            </a:pPr>
            <a:r>
              <a:rPr lang="en-US" sz="1400" dirty="0">
                <a:solidFill>
                  <a:schemeClr val="tx2"/>
                </a:solidFill>
                <a:latin typeface="Times New Roman" panose="02020603050405020304" pitchFamily="18" charset="0"/>
                <a:cs typeface="Times New Roman" panose="02020603050405020304" pitchFamily="18" charset="0"/>
              </a:rPr>
              <a:t>Syed Mosin Rayan M (1925260323)</a:t>
            </a:r>
            <a:endParaRPr lang="en-US" sz="1400" dirty="0">
              <a:latin typeface="Times New Roman" panose="02020603050405020304" pitchFamily="18" charset="0"/>
              <a:cs typeface="Times New Roman" panose="02020603050405020304" pitchFamily="18" charset="0"/>
            </a:endParaRPr>
          </a:p>
          <a:p>
            <a:pPr marL="0" indent="0">
              <a:spcAft>
                <a:spcPts val="600"/>
              </a:spcAft>
              <a:buNone/>
            </a:pPr>
            <a:r>
              <a:rPr lang="en-US" sz="1400" b="1" dirty="0">
                <a:solidFill>
                  <a:schemeClr val="tx2"/>
                </a:solidFill>
                <a:latin typeface="Times New Roman" panose="02020603050405020304" pitchFamily="18" charset="0"/>
                <a:cs typeface="Times New Roman" panose="02020603050405020304" pitchFamily="18" charset="0"/>
              </a:rPr>
              <a:t>Project guide:</a:t>
            </a:r>
          </a:p>
          <a:p>
            <a:pPr marL="0" indent="0">
              <a:spcAft>
                <a:spcPts val="600"/>
              </a:spcAft>
              <a:buNone/>
            </a:pPr>
            <a:r>
              <a:rPr lang="en-US" sz="1400" dirty="0">
                <a:solidFill>
                  <a:schemeClr val="tx2"/>
                </a:solidFill>
                <a:latin typeface="Times New Roman" panose="02020603050405020304" pitchFamily="18" charset="0"/>
                <a:cs typeface="Times New Roman" panose="02020603050405020304" pitchFamily="18" charset="0"/>
              </a:rPr>
              <a:t>Dr T </a:t>
            </a:r>
            <a:r>
              <a:rPr lang="en-US" sz="1400" dirty="0" err="1">
                <a:solidFill>
                  <a:schemeClr val="tx2"/>
                </a:solidFill>
                <a:latin typeface="Times New Roman" panose="02020603050405020304" pitchFamily="18" charset="0"/>
                <a:cs typeface="Times New Roman" panose="02020603050405020304" pitchFamily="18" charset="0"/>
              </a:rPr>
              <a:t>Kosalairaman</a:t>
            </a:r>
            <a:endParaRPr lang="en-US" sz="1400" dirty="0">
              <a:latin typeface="Times New Roman" panose="02020603050405020304" pitchFamily="18" charset="0"/>
              <a:cs typeface="Times New Roman" panose="02020603050405020304" pitchFamily="18" charset="0"/>
            </a:endParaRPr>
          </a:p>
        </p:txBody>
      </p:sp>
      <p:sp>
        <p:nvSpPr>
          <p:cNvPr id="5" name="Visual disc"/>
          <p:cNvSpPr/>
          <p:nvPr/>
        </p:nvSpPr>
        <p:spPr>
          <a:xfrm>
            <a:off x="5897880" y="1143000"/>
            <a:ext cx="2743200" cy="2743200"/>
          </a:xfrm>
          <a:prstGeom prst="ellipse">
            <a:avLst/>
          </a:prstGeom>
          <a:solidFill>
            <a:schemeClr val="bg2"/>
          </a:solidFill>
          <a:ln w="12700">
            <a:solidFill>
              <a:schemeClr val="bg2"/>
            </a:solidFill>
            <a:prstDash val="solid"/>
          </a:ln>
        </p:spPr>
      </p:sp>
      <p:sp>
        <p:nvSpPr>
          <p:cNvPr id="6" name="Visual ring"/>
          <p:cNvSpPr/>
          <p:nvPr/>
        </p:nvSpPr>
        <p:spPr>
          <a:xfrm>
            <a:off x="5669280" y="914400"/>
            <a:ext cx="3200400" cy="3200400"/>
          </a:xfrm>
          <a:prstGeom prst="ellipse">
            <a:avLst/>
          </a:prstGeom>
          <a:ln w="12700">
            <a:solidFill>
              <a:schemeClr val="accent5"/>
            </a:solidFill>
            <a:prstDash val="solid"/>
          </a:ln>
        </p:spPr>
      </p:sp>
      <p:pic>
        <p:nvPicPr>
          <p:cNvPr id="7" name="Healthcare icon" descr="Healthcare activity line icon"/>
          <p:cNvPicPr>
            <a:picLocks noChangeAspect="1"/>
          </p:cNvPicPr>
          <p:nvPr/>
        </p:nvPicPr>
        <p:blipFill>
          <a:blip r:embed="rId3"/>
          <a:stretch>
            <a:fillRect/>
          </a:stretch>
        </p:blipFill>
        <p:spPr>
          <a:xfrm>
            <a:off x="6587128" y="1965960"/>
            <a:ext cx="1280160" cy="1280160"/>
          </a:xfrm>
          <a:prstGeom prst="rect">
            <a:avLst/>
          </a:prstGeom>
        </p:spPr>
      </p:pic>
      <p:sp>
        <p:nvSpPr>
          <p:cNvPr id="8" name="Plus A"/>
          <p:cNvSpPr/>
          <p:nvPr/>
        </p:nvSpPr>
        <p:spPr>
          <a:xfrm>
            <a:off x="5486400" y="3977640"/>
            <a:ext cx="274320" cy="274320"/>
          </a:xfrm>
          <a:prstGeom prst="mathPlus">
            <a:avLst/>
          </a:prstGeom>
          <a:solidFill>
            <a:schemeClr val="accent1"/>
          </a:solidFill>
          <a:ln w="12700">
            <a:solidFill>
              <a:schemeClr val="accent1"/>
            </a:solidFill>
            <a:prstDash val="solid"/>
          </a:ln>
        </p:spPr>
      </p:sp>
      <p:sp>
        <p:nvSpPr>
          <p:cNvPr id="9" name="Plus B"/>
          <p:cNvSpPr/>
          <p:nvPr/>
        </p:nvSpPr>
        <p:spPr>
          <a:xfrm>
            <a:off x="8503920" y="822960"/>
            <a:ext cx="201168" cy="201168"/>
          </a:xfrm>
          <a:prstGeom prst="mathPlus">
            <a:avLst/>
          </a:prstGeom>
          <a:solidFill>
            <a:schemeClr val="accent3"/>
          </a:solidFill>
          <a:ln w="12700">
            <a:solidFill>
              <a:schemeClr val="accent3"/>
            </a:solidFill>
            <a:prstDash val="solid"/>
          </a:ln>
        </p:spPr>
      </p:sp>
      <p:pic>
        <p:nvPicPr>
          <p:cNvPr id="11" name="Picture 10">
            <a:extLst>
              <a:ext uri="{FF2B5EF4-FFF2-40B4-BE49-F238E27FC236}">
                <a16:creationId xmlns:a16="http://schemas.microsoft.com/office/drawing/2014/main" id="{C10DE58D-8D5D-2B39-F9AA-452918525676}"/>
              </a:ext>
            </a:extLst>
          </p:cNvPr>
          <p:cNvPicPr>
            <a:picLocks noChangeAspect="1"/>
          </p:cNvPicPr>
          <p:nvPr/>
        </p:nvPicPr>
        <p:blipFill>
          <a:blip r:embed="rId4"/>
          <a:stretch>
            <a:fillRect/>
          </a:stretch>
        </p:blipFill>
        <p:spPr>
          <a:xfrm>
            <a:off x="7227208" y="203457"/>
            <a:ext cx="1377296" cy="37337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594360"/>
          </a:xfrm>
          <a:prstGeom prst="rect">
            <a:avLst/>
          </a:prstGeom>
          <a:noFill/>
          <a:ln/>
        </p:spPr>
        <p:txBody>
          <a:bodyPr wrap="square" lIns="0" tIns="0" rIns="0" bIns="0" rtlCol="0" anchor="ctr"/>
          <a:lstStyle/>
          <a:p>
            <a:pPr marL="0" indent="0" algn="l">
              <a:buNone/>
            </a:pPr>
            <a:r>
              <a:rPr lang="en-US" sz="3200" b="1" dirty="0">
                <a:solidFill>
                  <a:schemeClr val="tx1"/>
                </a:solidFill>
                <a:latin typeface="Times New Roman" panose="02020603050405020304" pitchFamily="18" charset="0"/>
                <a:cs typeface="Times New Roman" panose="02020603050405020304" pitchFamily="18" charset="0"/>
              </a:rPr>
              <a:t>Problem Statement</a:t>
            </a:r>
            <a:endParaRPr lang="en-US" sz="3200" dirty="0">
              <a:latin typeface="Times New Roman" panose="02020603050405020304" pitchFamily="18" charset="0"/>
              <a:cs typeface="Times New Roman" panose="02020603050405020304" pitchFamily="18" charset="0"/>
            </a:endParaRPr>
          </a:p>
        </p:txBody>
      </p:sp>
      <p:sp>
        <p:nvSpPr>
          <p:cNvPr id="3" name="Challenge 1 card"/>
          <p:cNvSpPr/>
          <p:nvPr/>
        </p:nvSpPr>
        <p:spPr>
          <a:xfrm>
            <a:off x="548640" y="1280160"/>
            <a:ext cx="2514600" cy="1463040"/>
          </a:xfrm>
          <a:prstGeom prst="rect">
            <a:avLst/>
          </a:prstGeom>
          <a:solidFill>
            <a:schemeClr val="bg2"/>
          </a:solidFill>
          <a:ln w="12700">
            <a:solidFill>
              <a:schemeClr val="bg2"/>
            </a:solidFill>
            <a:prstDash val="solid"/>
          </a:ln>
        </p:spPr>
      </p:sp>
      <p:sp>
        <p:nvSpPr>
          <p:cNvPr id="4" name="Forgotten schedules circle"/>
          <p:cNvSpPr/>
          <p:nvPr/>
        </p:nvSpPr>
        <p:spPr>
          <a:xfrm>
            <a:off x="731520" y="1463040"/>
            <a:ext cx="457200" cy="457200"/>
          </a:xfrm>
          <a:prstGeom prst="ellipse">
            <a:avLst/>
          </a:prstGeom>
          <a:solidFill>
            <a:schemeClr val="bg2"/>
          </a:solidFill>
          <a:ln w="12700">
            <a:solidFill>
              <a:schemeClr val="bg2"/>
            </a:solidFill>
            <a:prstDash val="solid"/>
          </a:ln>
        </p:spPr>
      </p:sp>
      <p:pic>
        <p:nvPicPr>
          <p:cNvPr id="5" name="Forgotten schedules icon" descr="Forgotten schedules"/>
          <p:cNvPicPr>
            <a:picLocks noChangeAspect="1"/>
          </p:cNvPicPr>
          <p:nvPr/>
        </p:nvPicPr>
        <p:blipFill>
          <a:blip r:embed="rId3"/>
          <a:stretch>
            <a:fillRect/>
          </a:stretch>
        </p:blipFill>
        <p:spPr>
          <a:xfrm>
            <a:off x="845820" y="1577340"/>
            <a:ext cx="228600" cy="228600"/>
          </a:xfrm>
          <a:prstGeom prst="rect">
            <a:avLst/>
          </a:prstGeom>
        </p:spPr>
      </p:pic>
      <p:sp>
        <p:nvSpPr>
          <p:cNvPr id="6" name="Text 3"/>
          <p:cNvSpPr txBox="1"/>
          <p:nvPr/>
        </p:nvSpPr>
        <p:spPr>
          <a:xfrm>
            <a:off x="1325880" y="1463040"/>
            <a:ext cx="1645920" cy="457200"/>
          </a:xfrm>
          <a:prstGeom prst="rect">
            <a:avLst/>
          </a:prstGeom>
          <a:noFill/>
          <a:ln/>
        </p:spPr>
        <p:txBody>
          <a:bodyPr wrap="square" lIns="0" tIns="0" rIns="0" bIns="0" rtlCol="0" anchor="ctr"/>
          <a:lstStyle/>
          <a:p>
            <a:pPr marL="0" indent="0">
              <a:buNone/>
            </a:pPr>
            <a:r>
              <a:rPr lang="en-US" sz="1400" b="1" dirty="0">
                <a:solidFill>
                  <a:schemeClr val="tx1"/>
                </a:solidFill>
                <a:latin typeface="Times New Roman" panose="02020603050405020304" pitchFamily="18" charset="0"/>
                <a:cs typeface="Times New Roman" panose="02020603050405020304" pitchFamily="18" charset="0"/>
              </a:rPr>
              <a:t>Forgotten schedules</a:t>
            </a:r>
            <a:endParaRPr lang="en-US" sz="1400" dirty="0">
              <a:latin typeface="Times New Roman" panose="02020603050405020304" pitchFamily="18" charset="0"/>
              <a:cs typeface="Times New Roman" panose="02020603050405020304" pitchFamily="18" charset="0"/>
            </a:endParaRPr>
          </a:p>
        </p:txBody>
      </p:sp>
      <p:sp>
        <p:nvSpPr>
          <p:cNvPr id="7" name="Text 4"/>
          <p:cNvSpPr txBox="1"/>
          <p:nvPr/>
        </p:nvSpPr>
        <p:spPr>
          <a:xfrm>
            <a:off x="731520" y="2057400"/>
            <a:ext cx="2148840" cy="640080"/>
          </a:xfrm>
          <a:prstGeom prst="rect">
            <a:avLst/>
          </a:prstGeom>
          <a:noFill/>
          <a:ln/>
        </p:spPr>
        <p:txBody>
          <a:bodyPr wrap="square" lIns="0" tIns="0" rIns="0" bIns="0" rtlCol="0" anchor="t"/>
          <a:lstStyle/>
          <a:p>
            <a:pPr marL="0" indent="0">
              <a:buNone/>
            </a:pPr>
            <a:r>
              <a:rPr lang="en-US" sz="1200" dirty="0">
                <a:solidFill>
                  <a:schemeClr val="tx2"/>
                </a:solidFill>
                <a:latin typeface="Times New Roman" panose="02020603050405020304" pitchFamily="18" charset="0"/>
                <a:cs typeface="Times New Roman" panose="02020603050405020304" pitchFamily="18" charset="0"/>
              </a:rPr>
              <a:t>Doses are easy to miss when routines change or reminders are scattered.</a:t>
            </a:r>
            <a:endParaRPr lang="en-US" sz="1200" dirty="0">
              <a:latin typeface="Times New Roman" panose="02020603050405020304" pitchFamily="18" charset="0"/>
              <a:cs typeface="Times New Roman" panose="02020603050405020304" pitchFamily="18" charset="0"/>
            </a:endParaRPr>
          </a:p>
        </p:txBody>
      </p:sp>
      <p:sp>
        <p:nvSpPr>
          <p:cNvPr id="8" name="Challenge 2 card"/>
          <p:cNvSpPr/>
          <p:nvPr/>
        </p:nvSpPr>
        <p:spPr>
          <a:xfrm>
            <a:off x="3246120" y="1280160"/>
            <a:ext cx="2514600" cy="1463040"/>
          </a:xfrm>
          <a:prstGeom prst="rect">
            <a:avLst/>
          </a:prstGeom>
          <a:solidFill>
            <a:schemeClr val="bg2"/>
          </a:solidFill>
          <a:ln w="12700">
            <a:solidFill>
              <a:schemeClr val="bg2"/>
            </a:solidFill>
            <a:prstDash val="solid"/>
          </a:ln>
        </p:spPr>
      </p:sp>
      <p:sp>
        <p:nvSpPr>
          <p:cNvPr id="9" name="Multiple prescriptions circle"/>
          <p:cNvSpPr/>
          <p:nvPr/>
        </p:nvSpPr>
        <p:spPr>
          <a:xfrm>
            <a:off x="3429000" y="1463040"/>
            <a:ext cx="457200" cy="457200"/>
          </a:xfrm>
          <a:prstGeom prst="ellipse">
            <a:avLst/>
          </a:prstGeom>
          <a:solidFill>
            <a:schemeClr val="bg2"/>
          </a:solidFill>
          <a:ln w="12700">
            <a:solidFill>
              <a:schemeClr val="bg2"/>
            </a:solidFill>
            <a:prstDash val="solid"/>
          </a:ln>
        </p:spPr>
      </p:sp>
      <p:pic>
        <p:nvPicPr>
          <p:cNvPr id="10" name="Multiple prescriptions icon" descr="Multiple prescriptions"/>
          <p:cNvPicPr>
            <a:picLocks noChangeAspect="1"/>
          </p:cNvPicPr>
          <p:nvPr/>
        </p:nvPicPr>
        <p:blipFill>
          <a:blip r:embed="rId4"/>
          <a:stretch>
            <a:fillRect/>
          </a:stretch>
        </p:blipFill>
        <p:spPr>
          <a:xfrm>
            <a:off x="3543300" y="1577340"/>
            <a:ext cx="228600" cy="228600"/>
          </a:xfrm>
          <a:prstGeom prst="rect">
            <a:avLst/>
          </a:prstGeom>
        </p:spPr>
      </p:pic>
      <p:sp>
        <p:nvSpPr>
          <p:cNvPr id="11" name="Text 7"/>
          <p:cNvSpPr txBox="1"/>
          <p:nvPr/>
        </p:nvSpPr>
        <p:spPr>
          <a:xfrm>
            <a:off x="4023360" y="1463040"/>
            <a:ext cx="1645920" cy="457200"/>
          </a:xfrm>
          <a:prstGeom prst="rect">
            <a:avLst/>
          </a:prstGeom>
          <a:noFill/>
          <a:ln/>
        </p:spPr>
        <p:txBody>
          <a:bodyPr wrap="square" lIns="0" tIns="0" rIns="0" bIns="0" rtlCol="0" anchor="ctr"/>
          <a:lstStyle/>
          <a:p>
            <a:pPr marL="0" indent="0">
              <a:buNone/>
            </a:pPr>
            <a:r>
              <a:rPr lang="en-US" sz="1400" b="1" dirty="0">
                <a:solidFill>
                  <a:schemeClr val="tx1"/>
                </a:solidFill>
                <a:latin typeface="Times New Roman" panose="02020603050405020304" pitchFamily="18" charset="0"/>
                <a:cs typeface="Times New Roman" panose="02020603050405020304" pitchFamily="18" charset="0"/>
              </a:rPr>
              <a:t>Multiple prescriptions</a:t>
            </a:r>
            <a:endParaRPr lang="en-US" sz="1400" dirty="0">
              <a:latin typeface="Times New Roman" panose="02020603050405020304" pitchFamily="18" charset="0"/>
              <a:cs typeface="Times New Roman" panose="02020603050405020304" pitchFamily="18" charset="0"/>
            </a:endParaRPr>
          </a:p>
        </p:txBody>
      </p:sp>
      <p:sp>
        <p:nvSpPr>
          <p:cNvPr id="12" name="Text 8"/>
          <p:cNvSpPr txBox="1"/>
          <p:nvPr/>
        </p:nvSpPr>
        <p:spPr>
          <a:xfrm>
            <a:off x="3429000" y="2057400"/>
            <a:ext cx="2148840" cy="640080"/>
          </a:xfrm>
          <a:prstGeom prst="rect">
            <a:avLst/>
          </a:prstGeom>
          <a:noFill/>
          <a:ln/>
        </p:spPr>
        <p:txBody>
          <a:bodyPr wrap="square" lIns="0" tIns="0" rIns="0" bIns="0" rtlCol="0" anchor="t"/>
          <a:lstStyle/>
          <a:p>
            <a:pPr marL="0" indent="0">
              <a:buNone/>
            </a:pPr>
            <a:r>
              <a:rPr lang="en-US" sz="1200" dirty="0">
                <a:solidFill>
                  <a:schemeClr val="tx2"/>
                </a:solidFill>
                <a:latin typeface="Times New Roman" panose="02020603050405020304" pitchFamily="18" charset="0"/>
                <a:cs typeface="Times New Roman" panose="02020603050405020304" pitchFamily="18" charset="0"/>
              </a:rPr>
              <a:t>Different medicines, doses and timings are hard to keep track of.</a:t>
            </a:r>
            <a:endParaRPr lang="en-US" sz="1200" dirty="0">
              <a:latin typeface="Times New Roman" panose="02020603050405020304" pitchFamily="18" charset="0"/>
              <a:cs typeface="Times New Roman" panose="02020603050405020304" pitchFamily="18" charset="0"/>
            </a:endParaRPr>
          </a:p>
        </p:txBody>
      </p:sp>
      <p:sp>
        <p:nvSpPr>
          <p:cNvPr id="13" name="Challenge 3 card"/>
          <p:cNvSpPr/>
          <p:nvPr/>
        </p:nvSpPr>
        <p:spPr>
          <a:xfrm>
            <a:off x="548640" y="2926080"/>
            <a:ext cx="2514600" cy="1463040"/>
          </a:xfrm>
          <a:prstGeom prst="rect">
            <a:avLst/>
          </a:prstGeom>
          <a:solidFill>
            <a:schemeClr val="bg2"/>
          </a:solidFill>
          <a:ln w="12700">
            <a:solidFill>
              <a:schemeClr val="bg2"/>
            </a:solidFill>
            <a:prstDash val="solid"/>
          </a:ln>
        </p:spPr>
      </p:sp>
      <p:sp>
        <p:nvSpPr>
          <p:cNvPr id="14" name="Refill tracking circle"/>
          <p:cNvSpPr/>
          <p:nvPr/>
        </p:nvSpPr>
        <p:spPr>
          <a:xfrm>
            <a:off x="731520" y="3108960"/>
            <a:ext cx="457200" cy="457200"/>
          </a:xfrm>
          <a:prstGeom prst="ellipse">
            <a:avLst/>
          </a:prstGeom>
          <a:solidFill>
            <a:schemeClr val="bg2"/>
          </a:solidFill>
          <a:ln w="12700">
            <a:solidFill>
              <a:schemeClr val="bg2"/>
            </a:solidFill>
            <a:prstDash val="solid"/>
          </a:ln>
        </p:spPr>
      </p:sp>
      <p:pic>
        <p:nvPicPr>
          <p:cNvPr id="15" name="Refill tracking icon" descr="Refill tracking"/>
          <p:cNvPicPr>
            <a:picLocks noChangeAspect="1"/>
          </p:cNvPicPr>
          <p:nvPr/>
        </p:nvPicPr>
        <p:blipFill>
          <a:blip r:embed="rId5"/>
          <a:stretch>
            <a:fillRect/>
          </a:stretch>
        </p:blipFill>
        <p:spPr>
          <a:xfrm>
            <a:off x="845820" y="3223260"/>
            <a:ext cx="228600" cy="228600"/>
          </a:xfrm>
          <a:prstGeom prst="rect">
            <a:avLst/>
          </a:prstGeom>
        </p:spPr>
      </p:pic>
      <p:sp>
        <p:nvSpPr>
          <p:cNvPr id="16" name="Text 11"/>
          <p:cNvSpPr txBox="1"/>
          <p:nvPr/>
        </p:nvSpPr>
        <p:spPr>
          <a:xfrm>
            <a:off x="1325880" y="3108960"/>
            <a:ext cx="1645920" cy="457200"/>
          </a:xfrm>
          <a:prstGeom prst="rect">
            <a:avLst/>
          </a:prstGeom>
          <a:noFill/>
          <a:ln/>
        </p:spPr>
        <p:txBody>
          <a:bodyPr wrap="square" lIns="0" tIns="0" rIns="0" bIns="0" rtlCol="0" anchor="ctr"/>
          <a:lstStyle/>
          <a:p>
            <a:pPr marL="0" indent="0">
              <a:buNone/>
            </a:pPr>
            <a:r>
              <a:rPr lang="en-US" sz="1400" b="1" dirty="0">
                <a:solidFill>
                  <a:schemeClr val="tx1"/>
                </a:solidFill>
                <a:latin typeface="Times New Roman" panose="02020603050405020304" pitchFamily="18" charset="0"/>
                <a:cs typeface="Times New Roman" panose="02020603050405020304" pitchFamily="18" charset="0"/>
              </a:rPr>
              <a:t>Refill tracking</a:t>
            </a:r>
            <a:endParaRPr lang="en-US" sz="1400" dirty="0">
              <a:latin typeface="Times New Roman" panose="02020603050405020304" pitchFamily="18" charset="0"/>
              <a:cs typeface="Times New Roman" panose="02020603050405020304" pitchFamily="18" charset="0"/>
            </a:endParaRPr>
          </a:p>
        </p:txBody>
      </p:sp>
      <p:sp>
        <p:nvSpPr>
          <p:cNvPr id="17" name="Text 12"/>
          <p:cNvSpPr txBox="1"/>
          <p:nvPr/>
        </p:nvSpPr>
        <p:spPr>
          <a:xfrm>
            <a:off x="731520" y="3703320"/>
            <a:ext cx="2148840" cy="640080"/>
          </a:xfrm>
          <a:prstGeom prst="rect">
            <a:avLst/>
          </a:prstGeom>
          <a:noFill/>
          <a:ln/>
        </p:spPr>
        <p:txBody>
          <a:bodyPr wrap="square" lIns="0" tIns="0" rIns="0" bIns="0" rtlCol="0" anchor="t"/>
          <a:lstStyle/>
          <a:p>
            <a:pPr marL="0" indent="0">
              <a:buNone/>
            </a:pPr>
            <a:r>
              <a:rPr lang="en-US" sz="1200" dirty="0">
                <a:solidFill>
                  <a:schemeClr val="tx2"/>
                </a:solidFill>
                <a:latin typeface="Times New Roman" panose="02020603050405020304" pitchFamily="18" charset="0"/>
                <a:cs typeface="Times New Roman" panose="02020603050405020304" pitchFamily="18" charset="0"/>
              </a:rPr>
              <a:t>Supply runs low without a clear view of remaining stock.</a:t>
            </a:r>
            <a:endParaRPr lang="en-US" sz="1200" dirty="0">
              <a:latin typeface="Times New Roman" panose="02020603050405020304" pitchFamily="18" charset="0"/>
              <a:cs typeface="Times New Roman" panose="02020603050405020304" pitchFamily="18" charset="0"/>
            </a:endParaRPr>
          </a:p>
        </p:txBody>
      </p:sp>
      <p:sp>
        <p:nvSpPr>
          <p:cNvPr id="18" name="Challenge 4 card"/>
          <p:cNvSpPr/>
          <p:nvPr/>
        </p:nvSpPr>
        <p:spPr>
          <a:xfrm>
            <a:off x="3246120" y="2926080"/>
            <a:ext cx="2514600" cy="1463040"/>
          </a:xfrm>
          <a:prstGeom prst="rect">
            <a:avLst/>
          </a:prstGeom>
          <a:solidFill>
            <a:schemeClr val="bg2"/>
          </a:solidFill>
          <a:ln w="12700">
            <a:solidFill>
              <a:schemeClr val="bg2"/>
            </a:solidFill>
            <a:prstDash val="solid"/>
          </a:ln>
        </p:spPr>
      </p:sp>
      <p:sp>
        <p:nvSpPr>
          <p:cNvPr id="19" name="Caregiver visibility circle"/>
          <p:cNvSpPr/>
          <p:nvPr/>
        </p:nvSpPr>
        <p:spPr>
          <a:xfrm>
            <a:off x="3429000" y="3108960"/>
            <a:ext cx="457200" cy="457200"/>
          </a:xfrm>
          <a:prstGeom prst="ellipse">
            <a:avLst/>
          </a:prstGeom>
          <a:solidFill>
            <a:schemeClr val="bg2"/>
          </a:solidFill>
          <a:ln w="12700">
            <a:solidFill>
              <a:schemeClr val="bg2"/>
            </a:solidFill>
            <a:prstDash val="solid"/>
          </a:ln>
        </p:spPr>
      </p:sp>
      <p:pic>
        <p:nvPicPr>
          <p:cNvPr id="20" name="Caregiver visibility icon" descr="Caregiver visibility"/>
          <p:cNvPicPr>
            <a:picLocks noChangeAspect="1"/>
          </p:cNvPicPr>
          <p:nvPr/>
        </p:nvPicPr>
        <p:blipFill>
          <a:blip r:embed="rId6"/>
          <a:stretch>
            <a:fillRect/>
          </a:stretch>
        </p:blipFill>
        <p:spPr>
          <a:xfrm>
            <a:off x="3543300" y="3223260"/>
            <a:ext cx="228600" cy="228600"/>
          </a:xfrm>
          <a:prstGeom prst="rect">
            <a:avLst/>
          </a:prstGeom>
        </p:spPr>
      </p:pic>
      <p:sp>
        <p:nvSpPr>
          <p:cNvPr id="21" name="Text 15"/>
          <p:cNvSpPr txBox="1"/>
          <p:nvPr/>
        </p:nvSpPr>
        <p:spPr>
          <a:xfrm>
            <a:off x="4023360" y="3108960"/>
            <a:ext cx="1645920" cy="457200"/>
          </a:xfrm>
          <a:prstGeom prst="rect">
            <a:avLst/>
          </a:prstGeom>
          <a:noFill/>
          <a:ln/>
        </p:spPr>
        <p:txBody>
          <a:bodyPr wrap="square" lIns="0" tIns="0" rIns="0" bIns="0" rtlCol="0" anchor="ctr"/>
          <a:lstStyle/>
          <a:p>
            <a:pPr marL="0" indent="0">
              <a:buNone/>
            </a:pPr>
            <a:r>
              <a:rPr lang="en-US" sz="1400" b="1" dirty="0">
                <a:solidFill>
                  <a:schemeClr val="tx1"/>
                </a:solidFill>
                <a:latin typeface="Times New Roman" panose="02020603050405020304" pitchFamily="18" charset="0"/>
                <a:cs typeface="Times New Roman" panose="02020603050405020304" pitchFamily="18" charset="0"/>
              </a:rPr>
              <a:t>Caregiver visibility</a:t>
            </a:r>
            <a:endParaRPr lang="en-US" sz="1400" dirty="0">
              <a:latin typeface="Times New Roman" panose="02020603050405020304" pitchFamily="18" charset="0"/>
              <a:cs typeface="Times New Roman" panose="02020603050405020304" pitchFamily="18" charset="0"/>
            </a:endParaRPr>
          </a:p>
        </p:txBody>
      </p:sp>
      <p:sp>
        <p:nvSpPr>
          <p:cNvPr id="22" name="Text 16"/>
          <p:cNvSpPr txBox="1"/>
          <p:nvPr/>
        </p:nvSpPr>
        <p:spPr>
          <a:xfrm>
            <a:off x="3429000" y="3703320"/>
            <a:ext cx="2148840" cy="640080"/>
          </a:xfrm>
          <a:prstGeom prst="rect">
            <a:avLst/>
          </a:prstGeom>
          <a:noFill/>
          <a:ln/>
        </p:spPr>
        <p:txBody>
          <a:bodyPr wrap="square" lIns="0" tIns="0" rIns="0" bIns="0" rtlCol="0" anchor="t"/>
          <a:lstStyle/>
          <a:p>
            <a:pPr marL="0" indent="0">
              <a:buNone/>
            </a:pPr>
            <a:r>
              <a:rPr lang="en-US" sz="1200" dirty="0">
                <a:solidFill>
                  <a:schemeClr val="tx2"/>
                </a:solidFill>
                <a:latin typeface="Times New Roman" panose="02020603050405020304" pitchFamily="18" charset="0"/>
                <a:cs typeface="Times New Roman" panose="02020603050405020304" pitchFamily="18" charset="0"/>
              </a:rPr>
              <a:t>Family caregivers have no timely view of whether a dose was taken.</a:t>
            </a:r>
            <a:endParaRPr lang="en-US" sz="1200" dirty="0">
              <a:latin typeface="Times New Roman" panose="02020603050405020304" pitchFamily="18" charset="0"/>
              <a:cs typeface="Times New Roman" panose="02020603050405020304" pitchFamily="18" charset="0"/>
            </a:endParaRPr>
          </a:p>
        </p:txBody>
      </p:sp>
      <p:sp>
        <p:nvSpPr>
          <p:cNvPr id="23" name="Problem definition panel"/>
          <p:cNvSpPr/>
          <p:nvPr/>
        </p:nvSpPr>
        <p:spPr>
          <a:xfrm>
            <a:off x="5989320" y="1280160"/>
            <a:ext cx="2606040" cy="3108960"/>
          </a:xfrm>
          <a:prstGeom prst="rect">
            <a:avLst/>
          </a:prstGeom>
          <a:solidFill>
            <a:schemeClr val="accent2"/>
          </a:solidFill>
          <a:ln w="12700">
            <a:solidFill>
              <a:schemeClr val="accent2"/>
            </a:solidFill>
            <a:prstDash val="solid"/>
          </a:ln>
        </p:spPr>
      </p:sp>
      <p:sp>
        <p:nvSpPr>
          <p:cNvPr id="24" name="Text 18"/>
          <p:cNvSpPr txBox="1"/>
          <p:nvPr/>
        </p:nvSpPr>
        <p:spPr>
          <a:xfrm>
            <a:off x="6217920" y="1508760"/>
            <a:ext cx="2194560" cy="274320"/>
          </a:xfrm>
          <a:prstGeom prst="rect">
            <a:avLst/>
          </a:prstGeom>
          <a:noFill/>
          <a:ln/>
        </p:spPr>
        <p:txBody>
          <a:bodyPr wrap="square" lIns="0" tIns="0" rIns="0" bIns="0" rtlCol="0" anchor="t"/>
          <a:lstStyle/>
          <a:p>
            <a:pPr marL="0" indent="0">
              <a:buNone/>
            </a:pPr>
            <a:r>
              <a:rPr lang="en-US" sz="1100" b="1" kern="0" spc="200" dirty="0">
                <a:solidFill>
                  <a:schemeClr val="accent6"/>
                </a:solidFill>
                <a:latin typeface="Times New Roman" panose="02020603050405020304" pitchFamily="18" charset="0"/>
                <a:cs typeface="Times New Roman" panose="02020603050405020304" pitchFamily="18" charset="0"/>
              </a:rPr>
              <a:t>PROBLEM ADDRESSED</a:t>
            </a:r>
            <a:endParaRPr lang="en-US" sz="1100" dirty="0">
              <a:latin typeface="Times New Roman" panose="02020603050405020304" pitchFamily="18" charset="0"/>
              <a:cs typeface="Times New Roman" panose="02020603050405020304" pitchFamily="18" charset="0"/>
            </a:endParaRPr>
          </a:p>
        </p:txBody>
      </p:sp>
      <p:sp>
        <p:nvSpPr>
          <p:cNvPr id="25" name="Text 19"/>
          <p:cNvSpPr txBox="1"/>
          <p:nvPr/>
        </p:nvSpPr>
        <p:spPr>
          <a:xfrm>
            <a:off x="6217920" y="1920240"/>
            <a:ext cx="2194560" cy="2194560"/>
          </a:xfrm>
          <a:prstGeom prst="rect">
            <a:avLst/>
          </a:prstGeom>
          <a:noFill/>
          <a:ln/>
        </p:spPr>
        <p:txBody>
          <a:bodyPr wrap="square" lIns="0" tIns="0" rIns="0" bIns="0" rtlCol="0" anchor="t"/>
          <a:lstStyle/>
          <a:p>
            <a:pPr marL="0" indent="0">
              <a:buNone/>
            </a:pPr>
            <a:r>
              <a:rPr lang="en-US" sz="1500" dirty="0">
                <a:solidFill>
                  <a:schemeClr val="bg1"/>
                </a:solidFill>
                <a:latin typeface="Times New Roman" panose="02020603050405020304" pitchFamily="18" charset="0"/>
                <a:cs typeface="Times New Roman" panose="02020603050405020304" pitchFamily="18" charset="0"/>
              </a:rPr>
              <a:t>Families lack one coordinated place to schedule medicines, confirm doses, spot missed doses, and keep caregivers informed.</a:t>
            </a:r>
            <a:endParaRPr lang="en-US" sz="1500" dirty="0">
              <a:latin typeface="Times New Roman" panose="02020603050405020304" pitchFamily="18" charset="0"/>
              <a:cs typeface="Times New Roman" panose="02020603050405020304" pitchFamily="18" charset="0"/>
            </a:endParaRPr>
          </a:p>
        </p:txBody>
      </p:sp>
      <p:sp>
        <p:nvSpPr>
          <p:cNvPr id="26"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B7B"/>
                </a:solidFill>
              </a:defRPr>
            </a:lvl1pPr>
          </a:lstStyle>
          <a:p>
            <a:pPr algn="r"/>
            <a:fld id="{F7021451-1387-4CA6-816F-3879F97B5CBC}" type="slidenum">
              <a:rPr lang="en-US" b="0">
                <a:latin typeface="Times New Roman" panose="02020603050405020304" pitchFamily="18" charset="0"/>
                <a:cs typeface="Times New Roman" panose="02020603050405020304" pitchFamily="18" charset="0"/>
              </a:rPr>
              <a:t>2</a:t>
            </a:fld>
            <a:endParaRPr lang="en-US">
              <a:latin typeface="Times New Roman" panose="02020603050405020304" pitchFamily="18" charset="0"/>
              <a:cs typeface="Times New Roman" panose="02020603050405020304" pitchFamily="18" charset="0"/>
            </a:endParaRPr>
          </a:p>
        </p:txBody>
      </p:sp>
      <p:pic>
        <p:nvPicPr>
          <p:cNvPr id="28" name="Picture 27">
            <a:extLst>
              <a:ext uri="{FF2B5EF4-FFF2-40B4-BE49-F238E27FC236}">
                <a16:creationId xmlns:a16="http://schemas.microsoft.com/office/drawing/2014/main" id="{B573DC31-CC09-946F-8111-0D00C61060D8}"/>
              </a:ext>
            </a:extLst>
          </p:cNvPr>
          <p:cNvPicPr>
            <a:picLocks noChangeAspect="1"/>
          </p:cNvPicPr>
          <p:nvPr/>
        </p:nvPicPr>
        <p:blipFill>
          <a:blip r:embed="rId7"/>
          <a:stretch>
            <a:fillRect/>
          </a:stretch>
        </p:blipFill>
        <p:spPr>
          <a:xfrm>
            <a:off x="7227208" y="203457"/>
            <a:ext cx="1377296" cy="37337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594360"/>
          </a:xfrm>
          <a:prstGeom prst="rect">
            <a:avLst/>
          </a:prstGeom>
          <a:noFill/>
          <a:ln/>
        </p:spPr>
        <p:txBody>
          <a:bodyPr wrap="square" lIns="0" tIns="0" rIns="0" bIns="0" rtlCol="0" anchor="ctr"/>
          <a:lstStyle/>
          <a:p>
            <a:pPr marL="0" indent="0" algn="l">
              <a:buNone/>
            </a:pPr>
            <a:r>
              <a:rPr lang="en-US" sz="3200" b="1" dirty="0">
                <a:solidFill>
                  <a:schemeClr val="tx1"/>
                </a:solidFill>
                <a:latin typeface="Times New Roman" panose="02020603050405020304" pitchFamily="18" charset="0"/>
                <a:cs typeface="Times New Roman" panose="02020603050405020304" pitchFamily="18" charset="0"/>
              </a:rPr>
              <a:t>Objectives</a:t>
            </a:r>
            <a:endParaRPr lang="en-US" sz="3200" dirty="0">
              <a:latin typeface="Times New Roman" panose="02020603050405020304" pitchFamily="18" charset="0"/>
              <a:cs typeface="Times New Roman" panose="02020603050405020304" pitchFamily="18" charset="0"/>
            </a:endParaRPr>
          </a:p>
        </p:txBody>
      </p:sp>
      <p:sp>
        <p:nvSpPr>
          <p:cNvPr id="3" name="Objective 1 badge"/>
          <p:cNvSpPr/>
          <p:nvPr/>
        </p:nvSpPr>
        <p:spPr>
          <a:xfrm>
            <a:off x="548640" y="1307592"/>
            <a:ext cx="384048" cy="384048"/>
          </a:xfrm>
          <a:prstGeom prst="ellipse">
            <a:avLst/>
          </a:prstGeom>
          <a:solidFill>
            <a:schemeClr val="accent2"/>
          </a:solidFill>
          <a:ln w="12700">
            <a:solidFill>
              <a:schemeClr val="accent2"/>
            </a:solidFill>
            <a:prstDash val="solid"/>
          </a:ln>
        </p:spPr>
      </p:sp>
      <p:sp>
        <p:nvSpPr>
          <p:cNvPr id="4" name="Text 2"/>
          <p:cNvSpPr txBox="1"/>
          <p:nvPr/>
        </p:nvSpPr>
        <p:spPr>
          <a:xfrm>
            <a:off x="548640" y="1307592"/>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latin typeface="Times New Roman" panose="02020603050405020304" pitchFamily="18" charset="0"/>
                <a:cs typeface="Times New Roman" panose="02020603050405020304" pitchFamily="18" charset="0"/>
              </a:rPr>
              <a:t>1</a:t>
            </a:r>
            <a:endParaRPr lang="en-US" sz="1400" dirty="0">
              <a:latin typeface="Times New Roman" panose="02020603050405020304" pitchFamily="18" charset="0"/>
              <a:cs typeface="Times New Roman" panose="02020603050405020304" pitchFamily="18" charset="0"/>
            </a:endParaRPr>
          </a:p>
        </p:txBody>
      </p:sp>
      <p:sp>
        <p:nvSpPr>
          <p:cNvPr id="5" name="Text 3"/>
          <p:cNvSpPr txBox="1"/>
          <p:nvPr/>
        </p:nvSpPr>
        <p:spPr>
          <a:xfrm>
            <a:off x="1143000" y="1234440"/>
            <a:ext cx="4114800" cy="530352"/>
          </a:xfrm>
          <a:prstGeom prst="rect">
            <a:avLst/>
          </a:prstGeom>
          <a:noFill/>
          <a:ln/>
        </p:spPr>
        <p:txBody>
          <a:bodyPr wrap="square" lIns="0" tIns="0" rIns="0" bIns="0" rtlCol="0" anchor="ctr"/>
          <a:lstStyle/>
          <a:p>
            <a:pPr marL="0" indent="0">
              <a:buNone/>
            </a:pPr>
            <a:r>
              <a:rPr lang="en-US" sz="1500" b="1" dirty="0">
                <a:solidFill>
                  <a:schemeClr val="tx1"/>
                </a:solidFill>
                <a:latin typeface="Times New Roman" panose="02020603050405020304" pitchFamily="18" charset="0"/>
                <a:cs typeface="Times New Roman" panose="02020603050405020304" pitchFamily="18" charset="0"/>
              </a:rPr>
              <a:t>Schedule and manage medication reminders</a:t>
            </a:r>
            <a:endParaRPr lang="en-US" sz="1500" dirty="0">
              <a:latin typeface="Times New Roman" panose="02020603050405020304" pitchFamily="18" charset="0"/>
              <a:cs typeface="Times New Roman" panose="02020603050405020304" pitchFamily="18" charset="0"/>
            </a:endParaRPr>
          </a:p>
        </p:txBody>
      </p:sp>
      <p:sp>
        <p:nvSpPr>
          <p:cNvPr id="6" name="Text 4"/>
          <p:cNvSpPr txBox="1"/>
          <p:nvPr/>
        </p:nvSpPr>
        <p:spPr>
          <a:xfrm>
            <a:off x="5440680" y="1234440"/>
            <a:ext cx="3154680" cy="530352"/>
          </a:xfrm>
          <a:prstGeom prst="rect">
            <a:avLst/>
          </a:prstGeom>
          <a:noFill/>
          <a:ln/>
        </p:spPr>
        <p:txBody>
          <a:bodyPr wrap="square" lIns="0" tIns="0" rIns="0" bIns="0" rtlCol="0" anchor="ctr"/>
          <a:lstStyle/>
          <a:p>
            <a:pPr marL="0" indent="0">
              <a:buNone/>
            </a:pPr>
            <a:r>
              <a:rPr lang="en-US" sz="1200" b="1" dirty="0">
                <a:solidFill>
                  <a:schemeClr val="accent4"/>
                </a:solidFill>
                <a:latin typeface="Times New Roman" panose="02020603050405020304" pitchFamily="18" charset="0"/>
                <a:cs typeface="Times New Roman" panose="02020603050405020304" pitchFamily="18" charset="0"/>
              </a:rPr>
              <a:t>Measure: </a:t>
            </a:r>
            <a:r>
              <a:rPr lang="en-US" sz="1200" dirty="0">
                <a:solidFill>
                  <a:schemeClr val="tx2"/>
                </a:solidFill>
                <a:latin typeface="Times New Roman" panose="02020603050405020304" pitchFamily="18" charset="0"/>
                <a:cs typeface="Times New Roman" panose="02020603050405020304" pitchFamily="18" charset="0"/>
              </a:rPr>
              <a:t>reminders fire at their configured times</a:t>
            </a:r>
            <a:endParaRPr lang="en-US" sz="1200" dirty="0">
              <a:latin typeface="Times New Roman" panose="02020603050405020304" pitchFamily="18" charset="0"/>
              <a:cs typeface="Times New Roman" panose="02020603050405020304" pitchFamily="18" charset="0"/>
            </a:endParaRPr>
          </a:p>
        </p:txBody>
      </p:sp>
      <p:sp>
        <p:nvSpPr>
          <p:cNvPr id="7" name="Divider 1"/>
          <p:cNvSpPr/>
          <p:nvPr/>
        </p:nvSpPr>
        <p:spPr>
          <a:xfrm>
            <a:off x="548640" y="1847088"/>
            <a:ext cx="8046720" cy="0"/>
          </a:xfrm>
          <a:prstGeom prst="line">
            <a:avLst/>
          </a:prstGeom>
          <a:noFill/>
          <a:ln w="15875">
            <a:solidFill>
              <a:schemeClr val="accent5"/>
            </a:solidFill>
            <a:prstDash val="solid"/>
          </a:ln>
        </p:spPr>
      </p:sp>
      <p:sp>
        <p:nvSpPr>
          <p:cNvPr id="8" name="Objective 2 badge"/>
          <p:cNvSpPr/>
          <p:nvPr/>
        </p:nvSpPr>
        <p:spPr>
          <a:xfrm>
            <a:off x="548640" y="1984248"/>
            <a:ext cx="384048" cy="384048"/>
          </a:xfrm>
          <a:prstGeom prst="ellipse">
            <a:avLst/>
          </a:prstGeom>
          <a:solidFill>
            <a:schemeClr val="accent2"/>
          </a:solidFill>
          <a:ln w="12700">
            <a:solidFill>
              <a:schemeClr val="accent2"/>
            </a:solidFill>
            <a:prstDash val="solid"/>
          </a:ln>
        </p:spPr>
      </p:sp>
      <p:sp>
        <p:nvSpPr>
          <p:cNvPr id="9" name="Text 7"/>
          <p:cNvSpPr txBox="1"/>
          <p:nvPr/>
        </p:nvSpPr>
        <p:spPr>
          <a:xfrm>
            <a:off x="548640" y="1984248"/>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latin typeface="Times New Roman" panose="02020603050405020304" pitchFamily="18" charset="0"/>
                <a:cs typeface="Times New Roman" panose="02020603050405020304" pitchFamily="18" charset="0"/>
              </a:rPr>
              <a:t>2</a:t>
            </a:r>
            <a:endParaRPr lang="en-US" sz="1400" dirty="0">
              <a:latin typeface="Times New Roman" panose="02020603050405020304" pitchFamily="18" charset="0"/>
              <a:cs typeface="Times New Roman" panose="02020603050405020304" pitchFamily="18" charset="0"/>
            </a:endParaRPr>
          </a:p>
        </p:txBody>
      </p:sp>
      <p:sp>
        <p:nvSpPr>
          <p:cNvPr id="10" name="Text 8"/>
          <p:cNvSpPr txBox="1"/>
          <p:nvPr/>
        </p:nvSpPr>
        <p:spPr>
          <a:xfrm>
            <a:off x="1143000" y="1911096"/>
            <a:ext cx="4114800" cy="530352"/>
          </a:xfrm>
          <a:prstGeom prst="rect">
            <a:avLst/>
          </a:prstGeom>
          <a:noFill/>
          <a:ln/>
        </p:spPr>
        <p:txBody>
          <a:bodyPr wrap="square" lIns="0" tIns="0" rIns="0" bIns="0" rtlCol="0" anchor="ctr"/>
          <a:lstStyle/>
          <a:p>
            <a:pPr marL="0" indent="0">
              <a:buNone/>
            </a:pPr>
            <a:r>
              <a:rPr lang="en-US" sz="1500" b="1" dirty="0">
                <a:solidFill>
                  <a:schemeClr val="tx1"/>
                </a:solidFill>
                <a:latin typeface="Times New Roman" panose="02020603050405020304" pitchFamily="18" charset="0"/>
                <a:cs typeface="Times New Roman" panose="02020603050405020304" pitchFamily="18" charset="0"/>
              </a:rPr>
              <a:t>Record patient-reported dose confirmations</a:t>
            </a:r>
            <a:endParaRPr lang="en-US" sz="1500" dirty="0">
              <a:latin typeface="Times New Roman" panose="02020603050405020304" pitchFamily="18" charset="0"/>
              <a:cs typeface="Times New Roman" panose="02020603050405020304" pitchFamily="18" charset="0"/>
            </a:endParaRPr>
          </a:p>
        </p:txBody>
      </p:sp>
      <p:sp>
        <p:nvSpPr>
          <p:cNvPr id="11" name="Text 9"/>
          <p:cNvSpPr txBox="1"/>
          <p:nvPr/>
        </p:nvSpPr>
        <p:spPr>
          <a:xfrm>
            <a:off x="5440680" y="1911096"/>
            <a:ext cx="3154680" cy="530352"/>
          </a:xfrm>
          <a:prstGeom prst="rect">
            <a:avLst/>
          </a:prstGeom>
          <a:noFill/>
          <a:ln/>
        </p:spPr>
        <p:txBody>
          <a:bodyPr wrap="square" lIns="0" tIns="0" rIns="0" bIns="0" rtlCol="0" anchor="ctr"/>
          <a:lstStyle/>
          <a:p>
            <a:pPr marL="0" indent="0">
              <a:buNone/>
            </a:pPr>
            <a:r>
              <a:rPr lang="en-US" sz="1200" b="1" dirty="0">
                <a:solidFill>
                  <a:schemeClr val="accent4"/>
                </a:solidFill>
                <a:latin typeface="Times New Roman" panose="02020603050405020304" pitchFamily="18" charset="0"/>
                <a:cs typeface="Times New Roman" panose="02020603050405020304" pitchFamily="18" charset="0"/>
              </a:rPr>
              <a:t>Measure: </a:t>
            </a:r>
            <a:r>
              <a:rPr lang="en-US" sz="1200" dirty="0">
                <a:solidFill>
                  <a:schemeClr val="tx2"/>
                </a:solidFill>
                <a:latin typeface="Times New Roman" panose="02020603050405020304" pitchFamily="18" charset="0"/>
                <a:cs typeface="Times New Roman" panose="02020603050405020304" pitchFamily="18" charset="0"/>
              </a:rPr>
              <a:t>each dose is logged as taken or pending</a:t>
            </a:r>
            <a:endParaRPr lang="en-US" sz="1200" dirty="0">
              <a:latin typeface="Times New Roman" panose="02020603050405020304" pitchFamily="18" charset="0"/>
              <a:cs typeface="Times New Roman" panose="02020603050405020304" pitchFamily="18" charset="0"/>
            </a:endParaRPr>
          </a:p>
        </p:txBody>
      </p:sp>
      <p:sp>
        <p:nvSpPr>
          <p:cNvPr id="12" name="Divider 2"/>
          <p:cNvSpPr/>
          <p:nvPr/>
        </p:nvSpPr>
        <p:spPr>
          <a:xfrm>
            <a:off x="548640" y="2523744"/>
            <a:ext cx="8046720" cy="0"/>
          </a:xfrm>
          <a:prstGeom prst="line">
            <a:avLst/>
          </a:prstGeom>
          <a:noFill/>
          <a:ln w="15875">
            <a:solidFill>
              <a:schemeClr val="accent5"/>
            </a:solidFill>
            <a:prstDash val="solid"/>
          </a:ln>
        </p:spPr>
      </p:sp>
      <p:sp>
        <p:nvSpPr>
          <p:cNvPr id="13" name="Objective 3 badge"/>
          <p:cNvSpPr/>
          <p:nvPr/>
        </p:nvSpPr>
        <p:spPr>
          <a:xfrm>
            <a:off x="548640" y="2660904"/>
            <a:ext cx="384048" cy="384048"/>
          </a:xfrm>
          <a:prstGeom prst="ellipse">
            <a:avLst/>
          </a:prstGeom>
          <a:solidFill>
            <a:schemeClr val="accent2"/>
          </a:solidFill>
          <a:ln w="12700">
            <a:solidFill>
              <a:schemeClr val="accent2"/>
            </a:solidFill>
            <a:prstDash val="solid"/>
          </a:ln>
        </p:spPr>
      </p:sp>
      <p:sp>
        <p:nvSpPr>
          <p:cNvPr id="14" name="Text 12"/>
          <p:cNvSpPr txBox="1"/>
          <p:nvPr/>
        </p:nvSpPr>
        <p:spPr>
          <a:xfrm>
            <a:off x="548640" y="2660904"/>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latin typeface="Times New Roman" panose="02020603050405020304" pitchFamily="18" charset="0"/>
                <a:cs typeface="Times New Roman" panose="02020603050405020304" pitchFamily="18" charset="0"/>
              </a:rPr>
              <a:t>3</a:t>
            </a:r>
            <a:endParaRPr lang="en-US" sz="1400" dirty="0">
              <a:latin typeface="Times New Roman" panose="02020603050405020304" pitchFamily="18" charset="0"/>
              <a:cs typeface="Times New Roman" panose="02020603050405020304" pitchFamily="18" charset="0"/>
            </a:endParaRPr>
          </a:p>
        </p:txBody>
      </p:sp>
      <p:sp>
        <p:nvSpPr>
          <p:cNvPr id="15" name="Text 13"/>
          <p:cNvSpPr txBox="1"/>
          <p:nvPr/>
        </p:nvSpPr>
        <p:spPr>
          <a:xfrm>
            <a:off x="1143000" y="2587752"/>
            <a:ext cx="4114800" cy="530352"/>
          </a:xfrm>
          <a:prstGeom prst="rect">
            <a:avLst/>
          </a:prstGeom>
          <a:noFill/>
          <a:ln/>
        </p:spPr>
        <p:txBody>
          <a:bodyPr wrap="square" lIns="0" tIns="0" rIns="0" bIns="0" rtlCol="0" anchor="ctr"/>
          <a:lstStyle/>
          <a:p>
            <a:pPr marL="0" indent="0">
              <a:buNone/>
            </a:pPr>
            <a:r>
              <a:rPr lang="en-US" sz="1500" b="1" dirty="0">
                <a:solidFill>
                  <a:schemeClr val="tx1"/>
                </a:solidFill>
                <a:latin typeface="Times New Roman" panose="02020603050405020304" pitchFamily="18" charset="0"/>
                <a:cs typeface="Times New Roman" panose="02020603050405020304" pitchFamily="18" charset="0"/>
              </a:rPr>
              <a:t>Detect overdue, unconfirmed doses</a:t>
            </a:r>
            <a:endParaRPr lang="en-US" sz="1500" dirty="0">
              <a:latin typeface="Times New Roman" panose="02020603050405020304" pitchFamily="18" charset="0"/>
              <a:cs typeface="Times New Roman" panose="02020603050405020304" pitchFamily="18" charset="0"/>
            </a:endParaRPr>
          </a:p>
        </p:txBody>
      </p:sp>
      <p:sp>
        <p:nvSpPr>
          <p:cNvPr id="16" name="Text 14"/>
          <p:cNvSpPr txBox="1"/>
          <p:nvPr/>
        </p:nvSpPr>
        <p:spPr>
          <a:xfrm>
            <a:off x="5440680" y="2587752"/>
            <a:ext cx="3154680" cy="530352"/>
          </a:xfrm>
          <a:prstGeom prst="rect">
            <a:avLst/>
          </a:prstGeom>
          <a:noFill/>
          <a:ln/>
        </p:spPr>
        <p:txBody>
          <a:bodyPr wrap="square" lIns="0" tIns="0" rIns="0" bIns="0" rtlCol="0" anchor="ctr"/>
          <a:lstStyle/>
          <a:p>
            <a:pPr marL="0" indent="0">
              <a:buNone/>
            </a:pPr>
            <a:r>
              <a:rPr lang="en-US" sz="1200" b="1" dirty="0">
                <a:solidFill>
                  <a:schemeClr val="accent4"/>
                </a:solidFill>
                <a:latin typeface="Times New Roman" panose="02020603050405020304" pitchFamily="18" charset="0"/>
                <a:cs typeface="Times New Roman" panose="02020603050405020304" pitchFamily="18" charset="0"/>
              </a:rPr>
              <a:t>Measure: </a:t>
            </a:r>
            <a:r>
              <a:rPr lang="en-US" sz="1200" dirty="0">
                <a:solidFill>
                  <a:schemeClr val="tx2"/>
                </a:solidFill>
                <a:latin typeface="Times New Roman" panose="02020603050405020304" pitchFamily="18" charset="0"/>
                <a:cs typeface="Times New Roman" panose="02020603050405020304" pitchFamily="18" charset="0"/>
              </a:rPr>
              <a:t>overdue doses flagged after a set grace window</a:t>
            </a:r>
            <a:endParaRPr lang="en-US" sz="1200" dirty="0">
              <a:latin typeface="Times New Roman" panose="02020603050405020304" pitchFamily="18" charset="0"/>
              <a:cs typeface="Times New Roman" panose="02020603050405020304" pitchFamily="18" charset="0"/>
            </a:endParaRPr>
          </a:p>
        </p:txBody>
      </p:sp>
      <p:sp>
        <p:nvSpPr>
          <p:cNvPr id="17" name="Divider 3"/>
          <p:cNvSpPr/>
          <p:nvPr/>
        </p:nvSpPr>
        <p:spPr>
          <a:xfrm>
            <a:off x="548640" y="3200400"/>
            <a:ext cx="8046720" cy="0"/>
          </a:xfrm>
          <a:prstGeom prst="line">
            <a:avLst/>
          </a:prstGeom>
          <a:noFill/>
          <a:ln w="15875">
            <a:solidFill>
              <a:schemeClr val="accent5"/>
            </a:solidFill>
            <a:prstDash val="solid"/>
          </a:ln>
        </p:spPr>
      </p:sp>
      <p:sp>
        <p:nvSpPr>
          <p:cNvPr id="18" name="Objective 4 badge"/>
          <p:cNvSpPr/>
          <p:nvPr/>
        </p:nvSpPr>
        <p:spPr>
          <a:xfrm>
            <a:off x="548640" y="3337560"/>
            <a:ext cx="384048" cy="384048"/>
          </a:xfrm>
          <a:prstGeom prst="ellipse">
            <a:avLst/>
          </a:prstGeom>
          <a:solidFill>
            <a:schemeClr val="accent2"/>
          </a:solidFill>
          <a:ln w="12700">
            <a:solidFill>
              <a:schemeClr val="accent2"/>
            </a:solidFill>
            <a:prstDash val="solid"/>
          </a:ln>
        </p:spPr>
      </p:sp>
      <p:sp>
        <p:nvSpPr>
          <p:cNvPr id="19" name="Text 17"/>
          <p:cNvSpPr txBox="1"/>
          <p:nvPr/>
        </p:nvSpPr>
        <p:spPr>
          <a:xfrm>
            <a:off x="548640" y="3337560"/>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latin typeface="Times New Roman" panose="02020603050405020304" pitchFamily="18" charset="0"/>
                <a:cs typeface="Times New Roman" panose="02020603050405020304" pitchFamily="18" charset="0"/>
              </a:rPr>
              <a:t>4</a:t>
            </a:r>
            <a:endParaRPr lang="en-US" sz="1400" dirty="0">
              <a:latin typeface="Times New Roman" panose="02020603050405020304" pitchFamily="18" charset="0"/>
              <a:cs typeface="Times New Roman" panose="02020603050405020304" pitchFamily="18" charset="0"/>
            </a:endParaRPr>
          </a:p>
        </p:txBody>
      </p:sp>
      <p:sp>
        <p:nvSpPr>
          <p:cNvPr id="20" name="Text 18"/>
          <p:cNvSpPr txBox="1"/>
          <p:nvPr/>
        </p:nvSpPr>
        <p:spPr>
          <a:xfrm>
            <a:off x="1143000" y="3264408"/>
            <a:ext cx="4114800" cy="530352"/>
          </a:xfrm>
          <a:prstGeom prst="rect">
            <a:avLst/>
          </a:prstGeom>
          <a:noFill/>
          <a:ln/>
        </p:spPr>
        <p:txBody>
          <a:bodyPr wrap="square" lIns="0" tIns="0" rIns="0" bIns="0" rtlCol="0" anchor="ctr"/>
          <a:lstStyle/>
          <a:p>
            <a:pPr marL="0" indent="0">
              <a:buNone/>
            </a:pPr>
            <a:r>
              <a:rPr lang="en-US" sz="1500" b="1" dirty="0">
                <a:solidFill>
                  <a:schemeClr val="tx1"/>
                </a:solidFill>
                <a:latin typeface="Times New Roman" panose="02020603050405020304" pitchFamily="18" charset="0"/>
                <a:cs typeface="Times New Roman" panose="02020603050405020304" pitchFamily="18" charset="0"/>
              </a:rPr>
              <a:t>Notify designated caregivers with appropriate consent</a:t>
            </a:r>
            <a:endParaRPr lang="en-US" sz="1500" dirty="0">
              <a:latin typeface="Times New Roman" panose="02020603050405020304" pitchFamily="18" charset="0"/>
              <a:cs typeface="Times New Roman" panose="02020603050405020304" pitchFamily="18" charset="0"/>
            </a:endParaRPr>
          </a:p>
        </p:txBody>
      </p:sp>
      <p:sp>
        <p:nvSpPr>
          <p:cNvPr id="21" name="Text 19"/>
          <p:cNvSpPr txBox="1"/>
          <p:nvPr/>
        </p:nvSpPr>
        <p:spPr>
          <a:xfrm>
            <a:off x="5440680" y="3264408"/>
            <a:ext cx="3154680" cy="530352"/>
          </a:xfrm>
          <a:prstGeom prst="rect">
            <a:avLst/>
          </a:prstGeom>
          <a:noFill/>
          <a:ln/>
        </p:spPr>
        <p:txBody>
          <a:bodyPr wrap="square" lIns="0" tIns="0" rIns="0" bIns="0" rtlCol="0" anchor="ctr"/>
          <a:lstStyle/>
          <a:p>
            <a:pPr marL="0" indent="0">
              <a:buNone/>
            </a:pPr>
            <a:r>
              <a:rPr lang="en-US" sz="1200" b="1" dirty="0">
                <a:solidFill>
                  <a:schemeClr val="accent4"/>
                </a:solidFill>
                <a:latin typeface="Times New Roman" panose="02020603050405020304" pitchFamily="18" charset="0"/>
                <a:cs typeface="Times New Roman" panose="02020603050405020304" pitchFamily="18" charset="0"/>
              </a:rPr>
              <a:t>Measure: </a:t>
            </a:r>
            <a:r>
              <a:rPr lang="en-US" sz="1200" dirty="0">
                <a:solidFill>
                  <a:schemeClr val="tx2"/>
                </a:solidFill>
                <a:latin typeface="Times New Roman" panose="02020603050405020304" pitchFamily="18" charset="0"/>
                <a:cs typeface="Times New Roman" panose="02020603050405020304" pitchFamily="18" charset="0"/>
              </a:rPr>
              <a:t>alerts go only to consenting caregivers</a:t>
            </a:r>
            <a:endParaRPr lang="en-US" sz="1200" dirty="0">
              <a:latin typeface="Times New Roman" panose="02020603050405020304" pitchFamily="18" charset="0"/>
              <a:cs typeface="Times New Roman" panose="02020603050405020304" pitchFamily="18" charset="0"/>
            </a:endParaRPr>
          </a:p>
        </p:txBody>
      </p:sp>
      <p:sp>
        <p:nvSpPr>
          <p:cNvPr id="22" name="Divider 4"/>
          <p:cNvSpPr/>
          <p:nvPr/>
        </p:nvSpPr>
        <p:spPr>
          <a:xfrm>
            <a:off x="548640" y="3877056"/>
            <a:ext cx="8046720" cy="0"/>
          </a:xfrm>
          <a:prstGeom prst="line">
            <a:avLst/>
          </a:prstGeom>
          <a:noFill/>
          <a:ln w="15875">
            <a:solidFill>
              <a:schemeClr val="accent5"/>
            </a:solidFill>
            <a:prstDash val="solid"/>
          </a:ln>
        </p:spPr>
      </p:sp>
      <p:sp>
        <p:nvSpPr>
          <p:cNvPr id="23" name="Objective 5 badge"/>
          <p:cNvSpPr/>
          <p:nvPr/>
        </p:nvSpPr>
        <p:spPr>
          <a:xfrm>
            <a:off x="548640" y="4014216"/>
            <a:ext cx="384048" cy="384048"/>
          </a:xfrm>
          <a:prstGeom prst="ellipse">
            <a:avLst/>
          </a:prstGeom>
          <a:solidFill>
            <a:schemeClr val="accent2"/>
          </a:solidFill>
          <a:ln w="12700">
            <a:solidFill>
              <a:schemeClr val="accent2"/>
            </a:solidFill>
            <a:prstDash val="solid"/>
          </a:ln>
        </p:spPr>
      </p:sp>
      <p:sp>
        <p:nvSpPr>
          <p:cNvPr id="24" name="Text 22"/>
          <p:cNvSpPr txBox="1"/>
          <p:nvPr/>
        </p:nvSpPr>
        <p:spPr>
          <a:xfrm>
            <a:off x="548640" y="4014216"/>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latin typeface="Times New Roman" panose="02020603050405020304" pitchFamily="18" charset="0"/>
                <a:cs typeface="Times New Roman" panose="02020603050405020304" pitchFamily="18" charset="0"/>
              </a:rPr>
              <a:t>5</a:t>
            </a:r>
            <a:endParaRPr lang="en-US" sz="1400" dirty="0">
              <a:latin typeface="Times New Roman" panose="02020603050405020304" pitchFamily="18" charset="0"/>
              <a:cs typeface="Times New Roman" panose="02020603050405020304" pitchFamily="18" charset="0"/>
            </a:endParaRPr>
          </a:p>
        </p:txBody>
      </p:sp>
      <p:sp>
        <p:nvSpPr>
          <p:cNvPr id="25" name="Text 23"/>
          <p:cNvSpPr txBox="1"/>
          <p:nvPr/>
        </p:nvSpPr>
        <p:spPr>
          <a:xfrm>
            <a:off x="1143000" y="3941064"/>
            <a:ext cx="4114800" cy="530352"/>
          </a:xfrm>
          <a:prstGeom prst="rect">
            <a:avLst/>
          </a:prstGeom>
          <a:noFill/>
          <a:ln/>
        </p:spPr>
        <p:txBody>
          <a:bodyPr wrap="square" lIns="0" tIns="0" rIns="0" bIns="0" rtlCol="0" anchor="ctr"/>
          <a:lstStyle/>
          <a:p>
            <a:pPr marL="0" indent="0">
              <a:buNone/>
            </a:pPr>
            <a:r>
              <a:rPr lang="en-US" sz="1500" b="1" dirty="0">
                <a:solidFill>
                  <a:schemeClr val="tx1"/>
                </a:solidFill>
                <a:latin typeface="Times New Roman" panose="02020603050405020304" pitchFamily="18" charset="0"/>
                <a:cs typeface="Times New Roman" panose="02020603050405020304" pitchFamily="18" charset="0"/>
              </a:rPr>
              <a:t>Track medication stock and adherence history</a:t>
            </a:r>
            <a:endParaRPr lang="en-US" sz="1500" dirty="0">
              <a:latin typeface="Times New Roman" panose="02020603050405020304" pitchFamily="18" charset="0"/>
              <a:cs typeface="Times New Roman" panose="02020603050405020304" pitchFamily="18" charset="0"/>
            </a:endParaRPr>
          </a:p>
        </p:txBody>
      </p:sp>
      <p:sp>
        <p:nvSpPr>
          <p:cNvPr id="26" name="Text 24"/>
          <p:cNvSpPr txBox="1"/>
          <p:nvPr/>
        </p:nvSpPr>
        <p:spPr>
          <a:xfrm>
            <a:off x="5440680" y="3941064"/>
            <a:ext cx="3154680" cy="530352"/>
          </a:xfrm>
          <a:prstGeom prst="rect">
            <a:avLst/>
          </a:prstGeom>
          <a:noFill/>
          <a:ln/>
        </p:spPr>
        <p:txBody>
          <a:bodyPr wrap="square" lIns="0" tIns="0" rIns="0" bIns="0" rtlCol="0" anchor="ctr"/>
          <a:lstStyle/>
          <a:p>
            <a:pPr marL="0" indent="0">
              <a:buNone/>
            </a:pPr>
            <a:r>
              <a:rPr lang="en-US" sz="1200" b="1" dirty="0">
                <a:solidFill>
                  <a:schemeClr val="accent4"/>
                </a:solidFill>
                <a:latin typeface="Times New Roman" panose="02020603050405020304" pitchFamily="18" charset="0"/>
                <a:cs typeface="Times New Roman" panose="02020603050405020304" pitchFamily="18" charset="0"/>
              </a:rPr>
              <a:t>Measure: </a:t>
            </a:r>
            <a:r>
              <a:rPr lang="en-US" sz="1200" dirty="0">
                <a:solidFill>
                  <a:schemeClr val="tx2"/>
                </a:solidFill>
                <a:latin typeface="Times New Roman" panose="02020603050405020304" pitchFamily="18" charset="0"/>
                <a:cs typeface="Times New Roman" panose="02020603050405020304" pitchFamily="18" charset="0"/>
              </a:rPr>
              <a:t>stock and dose history viewable per patient</a:t>
            </a:r>
            <a:endParaRPr lang="en-US" sz="1200" dirty="0">
              <a:latin typeface="Times New Roman" panose="02020603050405020304" pitchFamily="18" charset="0"/>
              <a:cs typeface="Times New Roman" panose="02020603050405020304" pitchFamily="18" charset="0"/>
            </a:endParaRPr>
          </a:p>
        </p:txBody>
      </p:sp>
      <p:sp>
        <p:nvSpPr>
          <p:cNvPr id="27"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B7B"/>
                </a:solidFill>
              </a:defRPr>
            </a:lvl1pPr>
          </a:lstStyle>
          <a:p>
            <a:pPr algn="r"/>
            <a:fld id="{F7021451-1387-4CA6-816F-3879F97B5CBC}" type="slidenum">
              <a:rPr lang="en-US" b="0">
                <a:latin typeface="Times New Roman" panose="02020603050405020304" pitchFamily="18" charset="0"/>
                <a:cs typeface="Times New Roman" panose="02020603050405020304" pitchFamily="18" charset="0"/>
              </a:rPr>
              <a:t>3</a:t>
            </a:fld>
            <a:endParaRPr lang="en-US">
              <a:latin typeface="Times New Roman" panose="02020603050405020304" pitchFamily="18" charset="0"/>
              <a:cs typeface="Times New Roman" panose="02020603050405020304" pitchFamily="18" charset="0"/>
            </a:endParaRPr>
          </a:p>
        </p:txBody>
      </p:sp>
      <p:pic>
        <p:nvPicPr>
          <p:cNvPr id="29" name="Picture 28">
            <a:extLst>
              <a:ext uri="{FF2B5EF4-FFF2-40B4-BE49-F238E27FC236}">
                <a16:creationId xmlns:a16="http://schemas.microsoft.com/office/drawing/2014/main" id="{180FF53E-AEF6-77AE-F0FC-E986174A8AA9}"/>
              </a:ext>
            </a:extLst>
          </p:cNvPr>
          <p:cNvPicPr>
            <a:picLocks noChangeAspect="1"/>
          </p:cNvPicPr>
          <p:nvPr/>
        </p:nvPicPr>
        <p:blipFill>
          <a:blip r:embed="rId3"/>
          <a:stretch>
            <a:fillRect/>
          </a:stretch>
        </p:blipFill>
        <p:spPr>
          <a:xfrm>
            <a:off x="7227208" y="203457"/>
            <a:ext cx="1377296" cy="37337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594360"/>
          </a:xfrm>
          <a:prstGeom prst="rect">
            <a:avLst/>
          </a:prstGeom>
          <a:noFill/>
          <a:ln/>
        </p:spPr>
        <p:txBody>
          <a:bodyPr wrap="square" lIns="0" tIns="0" rIns="0" bIns="0" rtlCol="0" anchor="ctr"/>
          <a:lstStyle/>
          <a:p>
            <a:pPr marL="0" indent="0" algn="l">
              <a:buNone/>
            </a:pPr>
            <a:r>
              <a:rPr lang="en-US" sz="3200" b="1" dirty="0">
                <a:solidFill>
                  <a:schemeClr val="tx1"/>
                </a:solidFill>
                <a:latin typeface="Times New Roman" panose="02020603050405020304" pitchFamily="18" charset="0"/>
                <a:cs typeface="Times New Roman" panose="02020603050405020304" pitchFamily="18" charset="0"/>
              </a:rPr>
              <a:t>Motivation and Need</a:t>
            </a:r>
            <a:endParaRPr lang="en-US" sz="3200" dirty="0">
              <a:latin typeface="Times New Roman" panose="02020603050405020304" pitchFamily="18" charset="0"/>
              <a:cs typeface="Times New Roman" panose="02020603050405020304" pitchFamily="18" charset="0"/>
            </a:endParaRPr>
          </a:p>
        </p:txBody>
      </p:sp>
      <p:sp>
        <p:nvSpPr>
          <p:cNvPr id="3" name="Need 1 card"/>
          <p:cNvSpPr/>
          <p:nvPr/>
        </p:nvSpPr>
        <p:spPr>
          <a:xfrm>
            <a:off x="548640" y="1280160"/>
            <a:ext cx="1874520" cy="2377440"/>
          </a:xfrm>
          <a:prstGeom prst="rect">
            <a:avLst/>
          </a:prstGeom>
          <a:solidFill>
            <a:schemeClr val="bg2"/>
          </a:solidFill>
          <a:ln w="12700">
            <a:solidFill>
              <a:schemeClr val="bg2"/>
            </a:solidFill>
            <a:prstDash val="solid"/>
          </a:ln>
        </p:spPr>
      </p:sp>
      <p:sp>
        <p:nvSpPr>
          <p:cNvPr id="4" name="Convenience circle"/>
          <p:cNvSpPr/>
          <p:nvPr/>
        </p:nvSpPr>
        <p:spPr>
          <a:xfrm>
            <a:off x="731520" y="1463040"/>
            <a:ext cx="548640" cy="548640"/>
          </a:xfrm>
          <a:prstGeom prst="ellipse">
            <a:avLst/>
          </a:prstGeom>
          <a:solidFill>
            <a:schemeClr val="bg2"/>
          </a:solidFill>
          <a:ln w="12700">
            <a:solidFill>
              <a:schemeClr val="bg2"/>
            </a:solidFill>
            <a:prstDash val="solid"/>
          </a:ln>
        </p:spPr>
      </p:sp>
      <p:pic>
        <p:nvPicPr>
          <p:cNvPr id="5" name="Convenience icon" descr="Convenience"/>
          <p:cNvPicPr>
            <a:picLocks noChangeAspect="1"/>
          </p:cNvPicPr>
          <p:nvPr/>
        </p:nvPicPr>
        <p:blipFill>
          <a:blip r:embed="rId3"/>
          <a:stretch>
            <a:fillRect/>
          </a:stretch>
        </p:blipFill>
        <p:spPr>
          <a:xfrm>
            <a:off x="868680" y="1600200"/>
            <a:ext cx="274320" cy="274320"/>
          </a:xfrm>
          <a:prstGeom prst="rect">
            <a:avLst/>
          </a:prstGeom>
        </p:spPr>
      </p:pic>
      <p:sp>
        <p:nvSpPr>
          <p:cNvPr id="6" name="Text 3"/>
          <p:cNvSpPr txBox="1"/>
          <p:nvPr/>
        </p:nvSpPr>
        <p:spPr>
          <a:xfrm>
            <a:off x="731520" y="2148840"/>
            <a:ext cx="1554480" cy="502920"/>
          </a:xfrm>
          <a:prstGeom prst="rect">
            <a:avLst/>
          </a:prstGeom>
          <a:noFill/>
          <a:ln/>
        </p:spPr>
        <p:txBody>
          <a:bodyPr wrap="square" lIns="0" tIns="0" rIns="0" bIns="0" rtlCol="0" anchor="t"/>
          <a:lstStyle/>
          <a:p>
            <a:pPr marL="0" indent="0">
              <a:buNone/>
            </a:pPr>
            <a:r>
              <a:rPr lang="en-US" sz="1600" b="1" dirty="0">
                <a:solidFill>
                  <a:schemeClr val="tx1"/>
                </a:solidFill>
                <a:latin typeface="Times New Roman" panose="02020603050405020304" pitchFamily="18" charset="0"/>
                <a:cs typeface="Times New Roman" panose="02020603050405020304" pitchFamily="18" charset="0"/>
              </a:rPr>
              <a:t>Convenience</a:t>
            </a:r>
            <a:endParaRPr lang="en-US" sz="1600" dirty="0">
              <a:latin typeface="Times New Roman" panose="02020603050405020304" pitchFamily="18" charset="0"/>
              <a:cs typeface="Times New Roman" panose="02020603050405020304" pitchFamily="18" charset="0"/>
            </a:endParaRPr>
          </a:p>
        </p:txBody>
      </p:sp>
      <p:sp>
        <p:nvSpPr>
          <p:cNvPr id="7" name="Text 4"/>
          <p:cNvSpPr txBox="1"/>
          <p:nvPr/>
        </p:nvSpPr>
        <p:spPr>
          <a:xfrm>
            <a:off x="731520" y="2697480"/>
            <a:ext cx="1554480" cy="868680"/>
          </a:xfrm>
          <a:prstGeom prst="rect">
            <a:avLst/>
          </a:prstGeom>
          <a:noFill/>
          <a:ln/>
        </p:spPr>
        <p:txBody>
          <a:bodyPr wrap="square" lIns="0" tIns="0" rIns="0" bIns="0" rtlCol="0" anchor="t"/>
          <a:lstStyle/>
          <a:p>
            <a:pPr marL="0" indent="0">
              <a:buNone/>
            </a:pPr>
            <a:r>
              <a:rPr lang="en-US" sz="1300" dirty="0">
                <a:solidFill>
                  <a:schemeClr val="tx2"/>
                </a:solidFill>
                <a:latin typeface="Times New Roman" panose="02020603050405020304" pitchFamily="18" charset="0"/>
                <a:cs typeface="Times New Roman" panose="02020603050405020304" pitchFamily="18" charset="0"/>
              </a:rPr>
              <a:t>One place for the family's medicines and schedules.</a:t>
            </a:r>
            <a:endParaRPr lang="en-US" sz="1300" dirty="0">
              <a:latin typeface="Times New Roman" panose="02020603050405020304" pitchFamily="18" charset="0"/>
              <a:cs typeface="Times New Roman" panose="02020603050405020304" pitchFamily="18" charset="0"/>
            </a:endParaRPr>
          </a:p>
        </p:txBody>
      </p:sp>
      <p:sp>
        <p:nvSpPr>
          <p:cNvPr id="8" name="Need 2 card"/>
          <p:cNvSpPr/>
          <p:nvPr/>
        </p:nvSpPr>
        <p:spPr>
          <a:xfrm>
            <a:off x="2606040" y="1280160"/>
            <a:ext cx="1874520" cy="2377440"/>
          </a:xfrm>
          <a:prstGeom prst="rect">
            <a:avLst/>
          </a:prstGeom>
          <a:solidFill>
            <a:schemeClr val="bg2"/>
          </a:solidFill>
          <a:ln w="12700">
            <a:solidFill>
              <a:schemeClr val="bg2"/>
            </a:solidFill>
            <a:prstDash val="solid"/>
          </a:ln>
        </p:spPr>
      </p:sp>
      <p:sp>
        <p:nvSpPr>
          <p:cNvPr id="9" name="Timely reminders circle"/>
          <p:cNvSpPr/>
          <p:nvPr/>
        </p:nvSpPr>
        <p:spPr>
          <a:xfrm>
            <a:off x="2788920" y="1463040"/>
            <a:ext cx="548640" cy="548640"/>
          </a:xfrm>
          <a:prstGeom prst="ellipse">
            <a:avLst/>
          </a:prstGeom>
          <a:solidFill>
            <a:schemeClr val="bg2"/>
          </a:solidFill>
          <a:ln w="12700">
            <a:solidFill>
              <a:schemeClr val="bg2"/>
            </a:solidFill>
            <a:prstDash val="solid"/>
          </a:ln>
        </p:spPr>
      </p:sp>
      <p:pic>
        <p:nvPicPr>
          <p:cNvPr id="10" name="Timely reminders icon" descr="Timely reminders"/>
          <p:cNvPicPr>
            <a:picLocks noChangeAspect="1"/>
          </p:cNvPicPr>
          <p:nvPr/>
        </p:nvPicPr>
        <p:blipFill>
          <a:blip r:embed="rId4"/>
          <a:stretch>
            <a:fillRect/>
          </a:stretch>
        </p:blipFill>
        <p:spPr>
          <a:xfrm>
            <a:off x="2926080" y="1600200"/>
            <a:ext cx="274320" cy="274320"/>
          </a:xfrm>
          <a:prstGeom prst="rect">
            <a:avLst/>
          </a:prstGeom>
        </p:spPr>
      </p:pic>
      <p:sp>
        <p:nvSpPr>
          <p:cNvPr id="11" name="Text 7"/>
          <p:cNvSpPr txBox="1"/>
          <p:nvPr/>
        </p:nvSpPr>
        <p:spPr>
          <a:xfrm>
            <a:off x="2788920" y="2148840"/>
            <a:ext cx="1554480" cy="502920"/>
          </a:xfrm>
          <a:prstGeom prst="rect">
            <a:avLst/>
          </a:prstGeom>
          <a:noFill/>
          <a:ln/>
        </p:spPr>
        <p:txBody>
          <a:bodyPr wrap="square" lIns="0" tIns="0" rIns="0" bIns="0" rtlCol="0" anchor="t"/>
          <a:lstStyle/>
          <a:p>
            <a:pPr marL="0" indent="0">
              <a:buNone/>
            </a:pPr>
            <a:r>
              <a:rPr lang="en-US" sz="1600" b="1" dirty="0">
                <a:solidFill>
                  <a:schemeClr val="tx1"/>
                </a:solidFill>
                <a:latin typeface="Times New Roman" panose="02020603050405020304" pitchFamily="18" charset="0"/>
                <a:cs typeface="Times New Roman" panose="02020603050405020304" pitchFamily="18" charset="0"/>
              </a:rPr>
              <a:t>Timely reminders</a:t>
            </a:r>
            <a:endParaRPr lang="en-US" sz="1600" dirty="0">
              <a:latin typeface="Times New Roman" panose="02020603050405020304" pitchFamily="18" charset="0"/>
              <a:cs typeface="Times New Roman" panose="02020603050405020304" pitchFamily="18" charset="0"/>
            </a:endParaRPr>
          </a:p>
        </p:txBody>
      </p:sp>
      <p:sp>
        <p:nvSpPr>
          <p:cNvPr id="12" name="Text 8"/>
          <p:cNvSpPr txBox="1"/>
          <p:nvPr/>
        </p:nvSpPr>
        <p:spPr>
          <a:xfrm>
            <a:off x="2788920" y="2697480"/>
            <a:ext cx="1554480" cy="868680"/>
          </a:xfrm>
          <a:prstGeom prst="rect">
            <a:avLst/>
          </a:prstGeom>
          <a:noFill/>
          <a:ln/>
        </p:spPr>
        <p:txBody>
          <a:bodyPr wrap="square" lIns="0" tIns="0" rIns="0" bIns="0" rtlCol="0" anchor="t"/>
          <a:lstStyle/>
          <a:p>
            <a:pPr marL="0" indent="0">
              <a:buNone/>
            </a:pPr>
            <a:r>
              <a:rPr lang="en-US" sz="1300" dirty="0">
                <a:solidFill>
                  <a:schemeClr val="tx2"/>
                </a:solidFill>
                <a:latin typeface="Times New Roman" panose="02020603050405020304" pitchFamily="18" charset="0"/>
                <a:cs typeface="Times New Roman" panose="02020603050405020304" pitchFamily="18" charset="0"/>
              </a:rPr>
              <a:t>Scheduled alerts prompt the patient at each dose time.</a:t>
            </a:r>
            <a:endParaRPr lang="en-US" sz="1300" dirty="0">
              <a:latin typeface="Times New Roman" panose="02020603050405020304" pitchFamily="18" charset="0"/>
              <a:cs typeface="Times New Roman" panose="02020603050405020304" pitchFamily="18" charset="0"/>
            </a:endParaRPr>
          </a:p>
        </p:txBody>
      </p:sp>
      <p:sp>
        <p:nvSpPr>
          <p:cNvPr id="13" name="Need 3 card"/>
          <p:cNvSpPr/>
          <p:nvPr/>
        </p:nvSpPr>
        <p:spPr>
          <a:xfrm>
            <a:off x="4663440" y="1280160"/>
            <a:ext cx="1874520" cy="2377440"/>
          </a:xfrm>
          <a:prstGeom prst="rect">
            <a:avLst/>
          </a:prstGeom>
          <a:solidFill>
            <a:schemeClr val="bg2"/>
          </a:solidFill>
          <a:ln w="12700">
            <a:solidFill>
              <a:schemeClr val="bg2"/>
            </a:solidFill>
            <a:prstDash val="solid"/>
          </a:ln>
        </p:spPr>
      </p:sp>
      <p:sp>
        <p:nvSpPr>
          <p:cNvPr id="14" name="Caregiver coordination circle"/>
          <p:cNvSpPr/>
          <p:nvPr/>
        </p:nvSpPr>
        <p:spPr>
          <a:xfrm>
            <a:off x="4846320" y="1463040"/>
            <a:ext cx="548640" cy="548640"/>
          </a:xfrm>
          <a:prstGeom prst="ellipse">
            <a:avLst/>
          </a:prstGeom>
          <a:solidFill>
            <a:schemeClr val="bg2"/>
          </a:solidFill>
          <a:ln w="12700">
            <a:solidFill>
              <a:schemeClr val="bg2"/>
            </a:solidFill>
            <a:prstDash val="solid"/>
          </a:ln>
        </p:spPr>
      </p:sp>
      <p:pic>
        <p:nvPicPr>
          <p:cNvPr id="15" name="Caregiver coordination icon" descr="Caregiver coordination"/>
          <p:cNvPicPr>
            <a:picLocks noChangeAspect="1"/>
          </p:cNvPicPr>
          <p:nvPr/>
        </p:nvPicPr>
        <p:blipFill>
          <a:blip r:embed="rId5"/>
          <a:stretch>
            <a:fillRect/>
          </a:stretch>
        </p:blipFill>
        <p:spPr>
          <a:xfrm>
            <a:off x="4983480" y="1600200"/>
            <a:ext cx="274320" cy="274320"/>
          </a:xfrm>
          <a:prstGeom prst="rect">
            <a:avLst/>
          </a:prstGeom>
        </p:spPr>
      </p:pic>
      <p:sp>
        <p:nvSpPr>
          <p:cNvPr id="16" name="Text 11"/>
          <p:cNvSpPr txBox="1"/>
          <p:nvPr/>
        </p:nvSpPr>
        <p:spPr>
          <a:xfrm>
            <a:off x="4846320" y="2148840"/>
            <a:ext cx="1554480" cy="502920"/>
          </a:xfrm>
          <a:prstGeom prst="rect">
            <a:avLst/>
          </a:prstGeom>
          <a:noFill/>
          <a:ln/>
        </p:spPr>
        <p:txBody>
          <a:bodyPr wrap="square" lIns="0" tIns="0" rIns="0" bIns="0" rtlCol="0" anchor="t"/>
          <a:lstStyle/>
          <a:p>
            <a:pPr marL="0" indent="0">
              <a:buNone/>
            </a:pPr>
            <a:r>
              <a:rPr lang="en-US" sz="1600" b="1" dirty="0">
                <a:solidFill>
                  <a:schemeClr val="tx1"/>
                </a:solidFill>
                <a:latin typeface="Times New Roman" panose="02020603050405020304" pitchFamily="18" charset="0"/>
                <a:cs typeface="Times New Roman" panose="02020603050405020304" pitchFamily="18" charset="0"/>
              </a:rPr>
              <a:t>Caregiver coordination</a:t>
            </a:r>
            <a:endParaRPr lang="en-US" sz="1600" dirty="0">
              <a:latin typeface="Times New Roman" panose="02020603050405020304" pitchFamily="18" charset="0"/>
              <a:cs typeface="Times New Roman" panose="02020603050405020304" pitchFamily="18" charset="0"/>
            </a:endParaRPr>
          </a:p>
        </p:txBody>
      </p:sp>
      <p:sp>
        <p:nvSpPr>
          <p:cNvPr id="17" name="Text 12"/>
          <p:cNvSpPr txBox="1"/>
          <p:nvPr/>
        </p:nvSpPr>
        <p:spPr>
          <a:xfrm>
            <a:off x="4846320" y="2697480"/>
            <a:ext cx="1554480" cy="868680"/>
          </a:xfrm>
          <a:prstGeom prst="rect">
            <a:avLst/>
          </a:prstGeom>
          <a:noFill/>
          <a:ln/>
        </p:spPr>
        <p:txBody>
          <a:bodyPr wrap="square" lIns="0" tIns="0" rIns="0" bIns="0" rtlCol="0" anchor="t"/>
          <a:lstStyle/>
          <a:p>
            <a:pPr marL="0" indent="0">
              <a:buNone/>
            </a:pPr>
            <a:r>
              <a:rPr lang="en-US" sz="1300" dirty="0">
                <a:solidFill>
                  <a:schemeClr val="tx2"/>
                </a:solidFill>
                <a:latin typeface="Times New Roman" panose="02020603050405020304" pitchFamily="18" charset="0"/>
                <a:cs typeface="Times New Roman" panose="02020603050405020304" pitchFamily="18" charset="0"/>
              </a:rPr>
              <a:t>Designated caregivers are informed, with consent.</a:t>
            </a:r>
            <a:endParaRPr lang="en-US" sz="1300" dirty="0">
              <a:latin typeface="Times New Roman" panose="02020603050405020304" pitchFamily="18" charset="0"/>
              <a:cs typeface="Times New Roman" panose="02020603050405020304" pitchFamily="18" charset="0"/>
            </a:endParaRPr>
          </a:p>
        </p:txBody>
      </p:sp>
      <p:sp>
        <p:nvSpPr>
          <p:cNvPr id="18" name="Need 4 card"/>
          <p:cNvSpPr/>
          <p:nvPr/>
        </p:nvSpPr>
        <p:spPr>
          <a:xfrm>
            <a:off x="6720840" y="1280160"/>
            <a:ext cx="1874520" cy="2377440"/>
          </a:xfrm>
          <a:prstGeom prst="rect">
            <a:avLst/>
          </a:prstGeom>
          <a:solidFill>
            <a:schemeClr val="bg2"/>
          </a:solidFill>
          <a:ln w="12700">
            <a:solidFill>
              <a:schemeClr val="bg2"/>
            </a:solidFill>
            <a:prstDash val="solid"/>
          </a:ln>
        </p:spPr>
      </p:sp>
      <p:sp>
        <p:nvSpPr>
          <p:cNvPr id="19" name="Adherence visibility circle"/>
          <p:cNvSpPr/>
          <p:nvPr/>
        </p:nvSpPr>
        <p:spPr>
          <a:xfrm>
            <a:off x="6903720" y="1463040"/>
            <a:ext cx="548640" cy="548640"/>
          </a:xfrm>
          <a:prstGeom prst="ellipse">
            <a:avLst/>
          </a:prstGeom>
          <a:solidFill>
            <a:schemeClr val="bg2"/>
          </a:solidFill>
          <a:ln w="12700">
            <a:solidFill>
              <a:schemeClr val="bg2"/>
            </a:solidFill>
            <a:prstDash val="solid"/>
          </a:ln>
        </p:spPr>
      </p:sp>
      <p:pic>
        <p:nvPicPr>
          <p:cNvPr id="20" name="Adherence visibility icon" descr="Adherence visibility"/>
          <p:cNvPicPr>
            <a:picLocks noChangeAspect="1"/>
          </p:cNvPicPr>
          <p:nvPr/>
        </p:nvPicPr>
        <p:blipFill>
          <a:blip r:embed="rId6"/>
          <a:stretch>
            <a:fillRect/>
          </a:stretch>
        </p:blipFill>
        <p:spPr>
          <a:xfrm>
            <a:off x="7040880" y="1600200"/>
            <a:ext cx="274320" cy="274320"/>
          </a:xfrm>
          <a:prstGeom prst="rect">
            <a:avLst/>
          </a:prstGeom>
        </p:spPr>
      </p:pic>
      <p:sp>
        <p:nvSpPr>
          <p:cNvPr id="21" name="Text 15"/>
          <p:cNvSpPr txBox="1"/>
          <p:nvPr/>
        </p:nvSpPr>
        <p:spPr>
          <a:xfrm>
            <a:off x="6903720" y="2148840"/>
            <a:ext cx="1554480" cy="502920"/>
          </a:xfrm>
          <a:prstGeom prst="rect">
            <a:avLst/>
          </a:prstGeom>
          <a:noFill/>
          <a:ln/>
        </p:spPr>
        <p:txBody>
          <a:bodyPr wrap="square" lIns="0" tIns="0" rIns="0" bIns="0" rtlCol="0" anchor="t"/>
          <a:lstStyle/>
          <a:p>
            <a:pPr marL="0" indent="0">
              <a:buNone/>
            </a:pPr>
            <a:r>
              <a:rPr lang="en-US" sz="1600" b="1" dirty="0">
                <a:solidFill>
                  <a:schemeClr val="tx1"/>
                </a:solidFill>
                <a:latin typeface="Times New Roman" panose="02020603050405020304" pitchFamily="18" charset="0"/>
                <a:cs typeface="Times New Roman" panose="02020603050405020304" pitchFamily="18" charset="0"/>
              </a:rPr>
              <a:t>Adherence visibility</a:t>
            </a:r>
            <a:endParaRPr lang="en-US" sz="1600" dirty="0">
              <a:latin typeface="Times New Roman" panose="02020603050405020304" pitchFamily="18" charset="0"/>
              <a:cs typeface="Times New Roman" panose="02020603050405020304" pitchFamily="18" charset="0"/>
            </a:endParaRPr>
          </a:p>
        </p:txBody>
      </p:sp>
      <p:sp>
        <p:nvSpPr>
          <p:cNvPr id="22" name="Text 16"/>
          <p:cNvSpPr txBox="1"/>
          <p:nvPr/>
        </p:nvSpPr>
        <p:spPr>
          <a:xfrm>
            <a:off x="6903720" y="2697480"/>
            <a:ext cx="1554480" cy="868680"/>
          </a:xfrm>
          <a:prstGeom prst="rect">
            <a:avLst/>
          </a:prstGeom>
          <a:noFill/>
          <a:ln/>
        </p:spPr>
        <p:txBody>
          <a:bodyPr wrap="square" lIns="0" tIns="0" rIns="0" bIns="0" rtlCol="0" anchor="t"/>
          <a:lstStyle/>
          <a:p>
            <a:pPr marL="0" indent="0">
              <a:buNone/>
            </a:pPr>
            <a:r>
              <a:rPr lang="en-US" sz="1300" dirty="0">
                <a:solidFill>
                  <a:schemeClr val="tx2"/>
                </a:solidFill>
                <a:latin typeface="Times New Roman" panose="02020603050405020304" pitchFamily="18" charset="0"/>
                <a:cs typeface="Times New Roman" panose="02020603050405020304" pitchFamily="18" charset="0"/>
              </a:rPr>
              <a:t>Dose history and stock levels are easy to review.</a:t>
            </a:r>
            <a:endParaRPr lang="en-US" sz="1300" dirty="0">
              <a:latin typeface="Times New Roman" panose="02020603050405020304" pitchFamily="18" charset="0"/>
              <a:cs typeface="Times New Roman" panose="02020603050405020304" pitchFamily="18" charset="0"/>
            </a:endParaRPr>
          </a:p>
        </p:txBody>
      </p:sp>
      <p:sp>
        <p:nvSpPr>
          <p:cNvPr id="23" name="Need statement"/>
          <p:cNvSpPr/>
          <p:nvPr/>
        </p:nvSpPr>
        <p:spPr>
          <a:xfrm>
            <a:off x="548640" y="3886200"/>
            <a:ext cx="8046720" cy="640080"/>
          </a:xfrm>
          <a:prstGeom prst="rect">
            <a:avLst/>
          </a:prstGeom>
          <a:solidFill>
            <a:schemeClr val="accent2"/>
          </a:solidFill>
          <a:ln w="12700">
            <a:solidFill>
              <a:schemeClr val="accent2"/>
            </a:solidFill>
            <a:prstDash val="solid"/>
          </a:ln>
        </p:spPr>
      </p:sp>
      <p:sp>
        <p:nvSpPr>
          <p:cNvPr id="24" name="Text 18"/>
          <p:cNvSpPr txBox="1"/>
          <p:nvPr/>
        </p:nvSpPr>
        <p:spPr>
          <a:xfrm>
            <a:off x="777240" y="3886200"/>
            <a:ext cx="7589520" cy="640080"/>
          </a:xfrm>
          <a:prstGeom prst="rect">
            <a:avLst/>
          </a:prstGeom>
          <a:noFill/>
          <a:ln/>
        </p:spPr>
        <p:txBody>
          <a:bodyPr wrap="square" lIns="0" tIns="0" rIns="0" bIns="0" rtlCol="0" anchor="ctr"/>
          <a:lstStyle/>
          <a:p>
            <a:pPr marL="0" indent="0">
              <a:buNone/>
            </a:pPr>
            <a:r>
              <a:rPr lang="en-US" sz="1600" dirty="0">
                <a:solidFill>
                  <a:schemeClr val="bg1"/>
                </a:solidFill>
                <a:latin typeface="Times New Roman" panose="02020603050405020304" pitchFamily="18" charset="0"/>
                <a:cs typeface="Times New Roman" panose="02020603050405020304" pitchFamily="18" charset="0"/>
              </a:rPr>
              <a:t>A centralized system replaces scattered alarms, notes and phone calls.</a:t>
            </a:r>
            <a:endParaRPr lang="en-US" sz="1600" dirty="0">
              <a:latin typeface="Times New Roman" panose="02020603050405020304" pitchFamily="18" charset="0"/>
              <a:cs typeface="Times New Roman" panose="02020603050405020304" pitchFamily="18" charset="0"/>
            </a:endParaRPr>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B7B"/>
                </a:solidFill>
              </a:defRPr>
            </a:lvl1pPr>
          </a:lstStyle>
          <a:p>
            <a:pPr algn="r"/>
            <a:fld id="{F7021451-1387-4CA6-816F-3879F97B5CBC}" type="slidenum">
              <a:rPr lang="en-US" b="0">
                <a:latin typeface="Times New Roman" panose="02020603050405020304" pitchFamily="18" charset="0"/>
                <a:cs typeface="Times New Roman" panose="02020603050405020304" pitchFamily="18" charset="0"/>
              </a:rPr>
              <a:t>4</a:t>
            </a:fld>
            <a:endParaRPr lang="en-US">
              <a:latin typeface="Times New Roman" panose="02020603050405020304" pitchFamily="18" charset="0"/>
              <a:cs typeface="Times New Roman" panose="02020603050405020304" pitchFamily="18" charset="0"/>
            </a:endParaRPr>
          </a:p>
        </p:txBody>
      </p:sp>
      <p:pic>
        <p:nvPicPr>
          <p:cNvPr id="27" name="Picture 26">
            <a:extLst>
              <a:ext uri="{FF2B5EF4-FFF2-40B4-BE49-F238E27FC236}">
                <a16:creationId xmlns:a16="http://schemas.microsoft.com/office/drawing/2014/main" id="{1E9A1A39-7019-C9F8-45F5-C5B8DDE99BD5}"/>
              </a:ext>
            </a:extLst>
          </p:cNvPr>
          <p:cNvPicPr>
            <a:picLocks noChangeAspect="1"/>
          </p:cNvPicPr>
          <p:nvPr/>
        </p:nvPicPr>
        <p:blipFill>
          <a:blip r:embed="rId7"/>
          <a:stretch>
            <a:fillRect/>
          </a:stretch>
        </p:blipFill>
        <p:spPr>
          <a:xfrm>
            <a:off x="7227208" y="203457"/>
            <a:ext cx="1377296" cy="37337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594360"/>
          </a:xfrm>
          <a:prstGeom prst="rect">
            <a:avLst/>
          </a:prstGeom>
          <a:noFill/>
          <a:ln/>
        </p:spPr>
        <p:txBody>
          <a:bodyPr wrap="square" lIns="0" tIns="0" rIns="0" bIns="0" rtlCol="0" anchor="ctr"/>
          <a:lstStyle/>
          <a:p>
            <a:pPr marL="0" indent="0" algn="l">
              <a:buNone/>
            </a:pPr>
            <a:r>
              <a:rPr lang="en-US" sz="3200" b="1" dirty="0">
                <a:solidFill>
                  <a:schemeClr val="tx1"/>
                </a:solidFill>
                <a:latin typeface="Times New Roman" panose="02020603050405020304" pitchFamily="18" charset="0"/>
                <a:cs typeface="Times New Roman" panose="02020603050405020304" pitchFamily="18" charset="0"/>
              </a:rPr>
              <a:t>Literature Survey</a:t>
            </a:r>
            <a:endParaRPr lang="en-US" sz="3200" dirty="0">
              <a:latin typeface="Times New Roman" panose="02020603050405020304" pitchFamily="18" charset="0"/>
              <a:cs typeface="Times New Roman" panose="02020603050405020304" pitchFamily="18" charset="0"/>
            </a:endParaRPr>
          </a:p>
        </p:txBody>
      </p:sp>
      <p:graphicFrame>
        <p:nvGraphicFramePr>
          <p:cNvPr id="6" name="Literature table"/>
          <p:cNvGraphicFramePr>
            <a:graphicFrameLocks noGrp="1"/>
          </p:cNvGraphicFramePr>
          <p:nvPr>
            <p:extLst>
              <p:ext uri="{D42A27DB-BD31-4B8C-83A1-F6EECF244321}">
                <p14:modId xmlns:p14="http://schemas.microsoft.com/office/powerpoint/2010/main" val="1995614640"/>
              </p:ext>
            </p:extLst>
          </p:nvPr>
        </p:nvGraphicFramePr>
        <p:xfrm>
          <a:off x="548640" y="1097280"/>
          <a:ext cx="8046720" cy="3383280"/>
        </p:xfrm>
        <a:graphic>
          <a:graphicData uri="http://schemas.openxmlformats.org/drawingml/2006/table">
            <a:tbl>
              <a:tblPr/>
              <a:tblGrid>
                <a:gridCol w="237744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tblGrid>
              <a:tr h="274320">
                <a:tc>
                  <a:txBody>
                    <a:bodyPr/>
                    <a:lstStyle/>
                    <a:p>
                      <a:pPr marL="0" indent="0">
                        <a:buNone/>
                      </a:pPr>
                      <a:r>
                        <a:rPr lang="en-US" sz="1100" b="1" dirty="0">
                          <a:solidFill>
                            <a:schemeClr val="bg1"/>
                          </a:solidFill>
                          <a:latin typeface="Times New Roman" panose="02020603050405020304" pitchFamily="18" charset="0"/>
                          <a:cs typeface="Times New Roman" panose="02020603050405020304" pitchFamily="18" charset="0"/>
                        </a:rPr>
                        <a:t>Source</a:t>
                      </a:r>
                      <a:endParaRPr lang="en-US" sz="1100" dirty="0">
                        <a:latin typeface="Times New Roman" panose="02020603050405020304" pitchFamily="18" charset="0"/>
                        <a:cs typeface="Times New Roman" panose="02020603050405020304" pitchFamily="18" charset="0"/>
                      </a:endParaRPr>
                    </a:p>
                  </a:txBody>
                  <a:tcPr marL="73152" marR="73152" marT="36576" marB="36576"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accent2"/>
                    </a:solidFill>
                  </a:tcPr>
                </a:tc>
                <a:tc>
                  <a:txBody>
                    <a:bodyPr/>
                    <a:lstStyle/>
                    <a:p>
                      <a:pPr marL="0" indent="0">
                        <a:buNone/>
                      </a:pPr>
                      <a:r>
                        <a:rPr lang="en-US" sz="1100" b="1" dirty="0">
                          <a:solidFill>
                            <a:schemeClr val="bg1"/>
                          </a:solidFill>
                          <a:latin typeface="Times New Roman" panose="02020603050405020304" pitchFamily="18" charset="0"/>
                          <a:cs typeface="Times New Roman" panose="02020603050405020304" pitchFamily="18" charset="0"/>
                        </a:rPr>
                        <a:t>Main contribution</a:t>
                      </a:r>
                      <a:endParaRPr lang="en-US" sz="1100" dirty="0">
                        <a:latin typeface="Times New Roman" panose="02020603050405020304" pitchFamily="18" charset="0"/>
                        <a:cs typeface="Times New Roman" panose="02020603050405020304" pitchFamily="18" charset="0"/>
                      </a:endParaRPr>
                    </a:p>
                  </a:txBody>
                  <a:tcPr marL="73152" marR="73152" marT="36576" marB="36576"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accent2"/>
                    </a:solidFill>
                  </a:tcPr>
                </a:tc>
                <a:tc>
                  <a:txBody>
                    <a:bodyPr/>
                    <a:lstStyle/>
                    <a:p>
                      <a:pPr marL="0" indent="0">
                        <a:buNone/>
                      </a:pPr>
                      <a:r>
                        <a:rPr lang="en-US" sz="1100" b="1" dirty="0">
                          <a:solidFill>
                            <a:schemeClr val="bg1"/>
                          </a:solidFill>
                          <a:latin typeface="Times New Roman" panose="02020603050405020304" pitchFamily="18" charset="0"/>
                          <a:cs typeface="Times New Roman" panose="02020603050405020304" pitchFamily="18" charset="0"/>
                        </a:rPr>
                        <a:t>Gap / limitation</a:t>
                      </a:r>
                      <a:endParaRPr lang="en-US" sz="1100" dirty="0">
                        <a:latin typeface="Times New Roman" panose="02020603050405020304" pitchFamily="18" charset="0"/>
                        <a:cs typeface="Times New Roman" panose="02020603050405020304" pitchFamily="18" charset="0"/>
                      </a:endParaRPr>
                    </a:p>
                  </a:txBody>
                  <a:tcPr marL="73152" marR="73152" marT="36576" marB="36576"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accent2"/>
                    </a:solidFill>
                  </a:tcPr>
                </a:tc>
                <a:extLst>
                  <a:ext uri="{0D108BD9-81ED-4DB2-BD59-A6C34878D82A}">
                    <a16:rowId xmlns:a16="http://schemas.microsoft.com/office/drawing/2014/main" val="10000"/>
                  </a:ext>
                </a:extLst>
              </a:tr>
              <a:tr h="658368">
                <a:tc>
                  <a:txBody>
                    <a:bodyPr/>
                    <a:lstStyle/>
                    <a:p>
                      <a:pPr marL="0" indent="0">
                        <a:buNone/>
                      </a:pPr>
                      <a:r>
                        <a:rPr lang="en-US" sz="1050" b="1" dirty="0">
                          <a:solidFill>
                            <a:schemeClr val="tx1"/>
                          </a:solidFill>
                          <a:latin typeface="Times New Roman" panose="02020603050405020304" pitchFamily="18" charset="0"/>
                          <a:cs typeface="Times New Roman" panose="02020603050405020304" pitchFamily="18" charset="0"/>
                        </a:rPr>
                        <a:t>Kim et al., 2026 [1]</a:t>
                      </a:r>
                      <a:endParaRPr lang="en-US" sz="1050" dirty="0">
                        <a:solidFill>
                          <a:schemeClr val="tx1"/>
                        </a:solidFill>
                        <a:latin typeface="Times New Roman" panose="02020603050405020304" pitchFamily="18" charset="0"/>
                        <a:cs typeface="Times New Roman" panose="02020603050405020304" pitchFamily="18" charset="0"/>
                      </a:endParaRPr>
                    </a:p>
                    <a:p>
                      <a:pPr marL="0" indent="0">
                        <a:buNone/>
                      </a:pPr>
                      <a:r>
                        <a:rPr lang="en-US" sz="900" b="1" dirty="0">
                          <a:solidFill>
                            <a:schemeClr val="tx1"/>
                          </a:solidFill>
                          <a:latin typeface="Times New Roman" panose="02020603050405020304" pitchFamily="18" charset="0"/>
                          <a:cs typeface="Times New Roman" panose="02020603050405020304" pitchFamily="18" charset="0"/>
                        </a:rPr>
                        <a:t>ACADEMIC · REVIEW (J. Med. Syst.)</a:t>
                      </a:r>
                      <a:endParaRPr lang="en-US" sz="1050" dirty="0">
                        <a:solidFill>
                          <a:schemeClr val="tx1"/>
                        </a:solidFill>
                        <a:latin typeface="Times New Roman" panose="02020603050405020304" pitchFamily="18" charset="0"/>
                        <a:cs typeface="Times New Roman" panose="02020603050405020304" pitchFamily="18" charset="0"/>
                      </a:endParaRPr>
                    </a:p>
                  </a:txBody>
                  <a:tcPr marL="73152" marR="73152" marT="36576" marB="36576"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marL="0" indent="0">
                        <a:buNone/>
                      </a:pPr>
                      <a:r>
                        <a:rPr lang="en-US" sz="1050" dirty="0">
                          <a:solidFill>
                            <a:schemeClr val="tx1"/>
                          </a:solidFill>
                          <a:latin typeface="Times New Roman" panose="02020603050405020304" pitchFamily="18" charset="0"/>
                          <a:cs typeface="Times New Roman" panose="02020603050405020304" pitchFamily="18" charset="0"/>
                        </a:rPr>
                        <a:t>Meta-analysis of 26 RCTs: apps improved adherence, notably with advanced reminders and data sharing</a:t>
                      </a:r>
                    </a:p>
                  </a:txBody>
                  <a:tcPr marL="73152" marR="73152" marT="36576" marB="36576"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marL="0" indent="0">
                        <a:buNone/>
                      </a:pPr>
                      <a:r>
                        <a:rPr lang="en-US" sz="1050" dirty="0">
                          <a:solidFill>
                            <a:schemeClr val="tx1"/>
                          </a:solidFill>
                          <a:latin typeface="Times New Roman" panose="02020603050405020304" pitchFamily="18" charset="0"/>
                          <a:cs typeface="Times New Roman" panose="02020603050405020304" pitchFamily="18" charset="0"/>
                        </a:rPr>
                        <a:t>Aggregate evidence; no concrete caregiver-escalation design</a:t>
                      </a:r>
                    </a:p>
                  </a:txBody>
                  <a:tcPr marL="73152" marR="73152" marT="36576" marB="36576"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extLst>
                  <a:ext uri="{0D108BD9-81ED-4DB2-BD59-A6C34878D82A}">
                    <a16:rowId xmlns:a16="http://schemas.microsoft.com/office/drawing/2014/main" val="10001"/>
                  </a:ext>
                </a:extLst>
              </a:tr>
              <a:tr h="658368">
                <a:tc>
                  <a:txBody>
                    <a:bodyPr/>
                    <a:lstStyle/>
                    <a:p>
                      <a:pPr marL="0" indent="0">
                        <a:buNone/>
                      </a:pPr>
                      <a:r>
                        <a:rPr lang="en-US" sz="1050" b="1" dirty="0">
                          <a:solidFill>
                            <a:schemeClr val="tx1"/>
                          </a:solidFill>
                          <a:latin typeface="Times New Roman" panose="02020603050405020304" pitchFamily="18" charset="0"/>
                          <a:cs typeface="Times New Roman" panose="02020603050405020304" pitchFamily="18" charset="0"/>
                        </a:rPr>
                        <a:t>Zhou, 2025 [5]</a:t>
                      </a:r>
                      <a:endParaRPr lang="en-US" sz="1050" dirty="0">
                        <a:solidFill>
                          <a:schemeClr val="tx1"/>
                        </a:solidFill>
                        <a:latin typeface="Times New Roman" panose="02020603050405020304" pitchFamily="18" charset="0"/>
                        <a:cs typeface="Times New Roman" panose="02020603050405020304" pitchFamily="18" charset="0"/>
                      </a:endParaRPr>
                    </a:p>
                    <a:p>
                      <a:pPr marL="0" indent="0">
                        <a:buNone/>
                      </a:pPr>
                      <a:r>
                        <a:rPr lang="en-US" sz="900" b="1" dirty="0">
                          <a:solidFill>
                            <a:schemeClr val="tx1"/>
                          </a:solidFill>
                          <a:latin typeface="Times New Roman" panose="02020603050405020304" pitchFamily="18" charset="0"/>
                          <a:cs typeface="Times New Roman" panose="02020603050405020304" pitchFamily="18" charset="0"/>
                        </a:rPr>
                        <a:t>PREPRINT (arXiv) · NOT PEER-REVIEWED</a:t>
                      </a:r>
                      <a:endParaRPr lang="en-US" sz="1050" dirty="0">
                        <a:solidFill>
                          <a:schemeClr val="tx1"/>
                        </a:solidFill>
                        <a:latin typeface="Times New Roman" panose="02020603050405020304" pitchFamily="18" charset="0"/>
                        <a:cs typeface="Times New Roman" panose="02020603050405020304" pitchFamily="18" charset="0"/>
                      </a:endParaRPr>
                    </a:p>
                  </a:txBody>
                  <a:tcPr marL="73152" marR="73152" marT="36576" marB="36576"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marL="0" indent="0">
                        <a:buNone/>
                      </a:pPr>
                      <a:r>
                        <a:rPr lang="en-US" sz="1050" dirty="0">
                          <a:solidFill>
                            <a:schemeClr val="tx1"/>
                          </a:solidFill>
                          <a:latin typeface="Times New Roman" panose="02020603050405020304" pitchFamily="18" charset="0"/>
                          <a:cs typeface="Times New Roman" panose="02020603050405020304" pitchFamily="18" charset="0"/>
                        </a:rPr>
                        <a:t>Adhera: caregiver-focused smart pill organizer with a shared adherence dashboard</a:t>
                      </a:r>
                    </a:p>
                  </a:txBody>
                  <a:tcPr marL="73152" marR="73152" marT="36576" marB="36576"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marL="0" indent="0">
                        <a:buNone/>
                      </a:pPr>
                      <a:r>
                        <a:rPr lang="en-US" sz="1050" dirty="0">
                          <a:solidFill>
                            <a:schemeClr val="tx1"/>
                          </a:solidFill>
                          <a:latin typeface="Times New Roman" panose="02020603050405020304" pitchFamily="18" charset="0"/>
                          <a:cs typeface="Times New Roman" panose="02020603050405020304" pitchFamily="18" charset="0"/>
                        </a:rPr>
                        <a:t>Hardware-dependent; small sample, simulated-condition testing</a:t>
                      </a:r>
                    </a:p>
                  </a:txBody>
                  <a:tcPr marL="73152" marR="73152" marT="36576" marB="36576"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extLst>
                  <a:ext uri="{0D108BD9-81ED-4DB2-BD59-A6C34878D82A}">
                    <a16:rowId xmlns:a16="http://schemas.microsoft.com/office/drawing/2014/main" val="2430827894"/>
                  </a:ext>
                </a:extLst>
              </a:tr>
              <a:tr h="658368">
                <a:tc>
                  <a:txBody>
                    <a:bodyPr/>
                    <a:lstStyle/>
                    <a:p>
                      <a:pPr marL="0" indent="0">
                        <a:buNone/>
                      </a:pPr>
                      <a:r>
                        <a:rPr lang="en-US" sz="1050" b="1" dirty="0">
                          <a:solidFill>
                            <a:schemeClr val="tx1"/>
                          </a:solidFill>
                          <a:latin typeface="Times New Roman" panose="02020603050405020304" pitchFamily="18" charset="0"/>
                          <a:cs typeface="Times New Roman" panose="02020603050405020304" pitchFamily="18" charset="0"/>
                        </a:rPr>
                        <a:t>Paul et al., 2024 [3]</a:t>
                      </a:r>
                      <a:endParaRPr lang="en-US" sz="1050" dirty="0">
                        <a:solidFill>
                          <a:schemeClr val="tx1"/>
                        </a:solidFill>
                        <a:latin typeface="Times New Roman" panose="02020603050405020304" pitchFamily="18" charset="0"/>
                        <a:cs typeface="Times New Roman" panose="02020603050405020304" pitchFamily="18" charset="0"/>
                      </a:endParaRPr>
                    </a:p>
                    <a:p>
                      <a:pPr marL="0" indent="0">
                        <a:buNone/>
                      </a:pPr>
                      <a:r>
                        <a:rPr lang="en-US" sz="900" b="1" dirty="0">
                          <a:solidFill>
                            <a:schemeClr val="tx1"/>
                          </a:solidFill>
                          <a:latin typeface="Times New Roman" panose="02020603050405020304" pitchFamily="18" charset="0"/>
                          <a:cs typeface="Times New Roman" panose="02020603050405020304" pitchFamily="18" charset="0"/>
                        </a:rPr>
                        <a:t>ACADEMIC · HARDWARE PROTOTYPE (HELIYON)</a:t>
                      </a:r>
                      <a:endParaRPr lang="en-US" sz="1050" dirty="0">
                        <a:solidFill>
                          <a:schemeClr val="tx1"/>
                        </a:solidFill>
                        <a:latin typeface="Times New Roman" panose="02020603050405020304" pitchFamily="18" charset="0"/>
                        <a:cs typeface="Times New Roman" panose="02020603050405020304" pitchFamily="18" charset="0"/>
                      </a:endParaRPr>
                    </a:p>
                  </a:txBody>
                  <a:tcPr marL="73152" marR="73152" marT="36576" marB="36576"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marL="0" indent="0">
                        <a:buNone/>
                      </a:pPr>
                      <a:r>
                        <a:rPr lang="en-US" sz="1050" dirty="0">
                          <a:solidFill>
                            <a:schemeClr val="tx1"/>
                          </a:solidFill>
                          <a:latin typeface="Times New Roman" panose="02020603050405020304" pitchFamily="18" charset="0"/>
                          <a:cs typeface="Times New Roman" panose="02020603050405020304" pitchFamily="18" charset="0"/>
                        </a:rPr>
                        <a:t>Smart reminder kit with repeated phone-call alerts and health sensors for seniors</a:t>
                      </a:r>
                    </a:p>
                  </a:txBody>
                  <a:tcPr marL="73152" marR="73152" marT="36576" marB="36576"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marL="0" indent="0">
                        <a:buNone/>
                      </a:pPr>
                      <a:r>
                        <a:rPr lang="en-US" sz="1050" dirty="0">
                          <a:solidFill>
                            <a:schemeClr val="tx1"/>
                          </a:solidFill>
                          <a:latin typeface="Times New Roman" panose="02020603050405020304" pitchFamily="18" charset="0"/>
                          <a:cs typeface="Times New Roman" panose="02020603050405020304" pitchFamily="18" charset="0"/>
                        </a:rPr>
                        <a:t>Needs dedicated hardware; calls target the patient, not family caregivers</a:t>
                      </a:r>
                    </a:p>
                  </a:txBody>
                  <a:tcPr marL="73152" marR="73152" marT="36576" marB="36576"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buNone/>
                      </a:pPr>
                      <a:r>
                        <a:rPr lang="en-US" sz="1050" b="1" dirty="0">
                          <a:solidFill>
                            <a:schemeClr val="tx1"/>
                          </a:solidFill>
                          <a:latin typeface="Times New Roman" panose="02020603050405020304" pitchFamily="18" charset="0"/>
                          <a:cs typeface="Times New Roman" panose="02020603050405020304" pitchFamily="18" charset="0"/>
                        </a:rPr>
                        <a:t>Catindoy et al., 2024 [4]</a:t>
                      </a:r>
                      <a:endParaRPr lang="en-US" sz="1050" dirty="0">
                        <a:solidFill>
                          <a:schemeClr val="tx1"/>
                        </a:solidFill>
                        <a:latin typeface="Times New Roman" panose="02020603050405020304" pitchFamily="18" charset="0"/>
                        <a:cs typeface="Times New Roman" panose="02020603050405020304" pitchFamily="18" charset="0"/>
                      </a:endParaRPr>
                    </a:p>
                    <a:p>
                      <a:pPr marL="0" indent="0">
                        <a:buNone/>
                      </a:pPr>
                      <a:r>
                        <a:rPr lang="en-US" sz="900" b="1" dirty="0">
                          <a:solidFill>
                            <a:schemeClr val="tx1"/>
                          </a:solidFill>
                          <a:latin typeface="Times New Roman" panose="02020603050405020304" pitchFamily="18" charset="0"/>
                          <a:cs typeface="Times New Roman" panose="02020603050405020304" pitchFamily="18" charset="0"/>
                        </a:rPr>
                        <a:t>ACADEMIC · CONFERENCE (IEEE ICVEE)</a:t>
                      </a:r>
                      <a:endParaRPr lang="en-US" sz="1050" dirty="0">
                        <a:solidFill>
                          <a:schemeClr val="tx1"/>
                        </a:solidFill>
                        <a:latin typeface="Times New Roman" panose="02020603050405020304" pitchFamily="18" charset="0"/>
                        <a:cs typeface="Times New Roman" panose="02020603050405020304" pitchFamily="18" charset="0"/>
                      </a:endParaRPr>
                    </a:p>
                  </a:txBody>
                  <a:tcPr marL="73152" marR="73152" marT="36576" marB="36576"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marL="0" indent="0">
                        <a:buNone/>
                      </a:pPr>
                      <a:r>
                        <a:rPr lang="en-US" sz="1050" dirty="0">
                          <a:solidFill>
                            <a:schemeClr val="tx1"/>
                          </a:solidFill>
                          <a:latin typeface="Times New Roman" panose="02020603050405020304" pitchFamily="18" charset="0"/>
                          <a:cs typeface="Times New Roman" panose="02020603050405020304" pitchFamily="18" charset="0"/>
                        </a:rPr>
                        <a:t>Android app for entering medicines, reminders and health tips</a:t>
                      </a:r>
                    </a:p>
                  </a:txBody>
                  <a:tcPr marL="73152" marR="73152" marT="36576" marB="36576"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marL="0" indent="0">
                        <a:buNone/>
                      </a:pPr>
                      <a:r>
                        <a:rPr lang="en-US" sz="1050" dirty="0">
                          <a:solidFill>
                            <a:schemeClr val="tx1"/>
                          </a:solidFill>
                          <a:latin typeface="Times New Roman" panose="02020603050405020304" pitchFamily="18" charset="0"/>
                          <a:cs typeface="Times New Roman" panose="02020603050405020304" pitchFamily="18" charset="0"/>
                        </a:rPr>
                        <a:t>Abstract describes no caregiver notification or escalation</a:t>
                      </a:r>
                    </a:p>
                  </a:txBody>
                  <a:tcPr marL="73152" marR="73152" marT="36576" marB="36576"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extLst>
                  <a:ext uri="{0D108BD9-81ED-4DB2-BD59-A6C34878D82A}">
                    <a16:rowId xmlns:a16="http://schemas.microsoft.com/office/drawing/2014/main" val="10004"/>
                  </a:ext>
                </a:extLst>
              </a:tr>
              <a:tr h="566928">
                <a:tc>
                  <a:txBody>
                    <a:bodyPr/>
                    <a:lstStyle/>
                    <a:p>
                      <a:pPr marL="0" indent="0">
                        <a:buNone/>
                      </a:pPr>
                      <a:r>
                        <a:rPr lang="en-US" sz="1050" b="1" dirty="0">
                          <a:solidFill>
                            <a:schemeClr val="tx1"/>
                          </a:solidFill>
                          <a:latin typeface="Times New Roman" panose="02020603050405020304" pitchFamily="18" charset="0"/>
                          <a:cs typeface="Times New Roman" panose="02020603050405020304" pitchFamily="18" charset="0"/>
                        </a:rPr>
                        <a:t>Hartch et al., 2023 [2]</a:t>
                      </a:r>
                      <a:endParaRPr lang="en-US" sz="1050" dirty="0">
                        <a:solidFill>
                          <a:schemeClr val="tx1"/>
                        </a:solidFill>
                        <a:latin typeface="Times New Roman" panose="02020603050405020304" pitchFamily="18" charset="0"/>
                        <a:cs typeface="Times New Roman" panose="02020603050405020304" pitchFamily="18" charset="0"/>
                      </a:endParaRPr>
                    </a:p>
                    <a:p>
                      <a:pPr marL="0" indent="0">
                        <a:buNone/>
                      </a:pPr>
                      <a:r>
                        <a:rPr lang="en-US" sz="900" b="1" dirty="0">
                          <a:solidFill>
                            <a:schemeClr val="tx1"/>
                          </a:solidFill>
                          <a:latin typeface="Times New Roman" panose="02020603050405020304" pitchFamily="18" charset="0"/>
                          <a:cs typeface="Times New Roman" panose="02020603050405020304" pitchFamily="18" charset="0"/>
                        </a:rPr>
                        <a:t>ACADEMIC STUDY OF A COMMERCIAL APP (MEDISAFE)</a:t>
                      </a:r>
                      <a:endParaRPr lang="en-US" sz="1050" dirty="0">
                        <a:solidFill>
                          <a:schemeClr val="tx1"/>
                        </a:solidFill>
                        <a:latin typeface="Times New Roman" panose="02020603050405020304" pitchFamily="18" charset="0"/>
                        <a:cs typeface="Times New Roman" panose="02020603050405020304" pitchFamily="18" charset="0"/>
                      </a:endParaRPr>
                    </a:p>
                  </a:txBody>
                  <a:tcPr marL="73152" marR="73152" marT="36576" marB="36576"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marL="0" indent="0">
                        <a:buNone/>
                      </a:pPr>
                      <a:r>
                        <a:rPr lang="en-US" sz="1050" dirty="0">
                          <a:solidFill>
                            <a:schemeClr val="tx1"/>
                          </a:solidFill>
                          <a:latin typeface="Times New Roman" panose="02020603050405020304" pitchFamily="18" charset="0"/>
                          <a:cs typeface="Times New Roman" panose="02020603050405020304" pitchFamily="18" charset="0"/>
                        </a:rPr>
                        <a:t>Two-week pilot (N=10): higher medication self-efficacy; reminders were the most-used feature</a:t>
                      </a:r>
                    </a:p>
                  </a:txBody>
                  <a:tcPr marL="73152" marR="73152" marT="36576" marB="36576"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marL="0" indent="0">
                        <a:buNone/>
                      </a:pPr>
                      <a:r>
                        <a:rPr lang="en-US" sz="1050" dirty="0">
                          <a:solidFill>
                            <a:schemeClr val="tx1"/>
                          </a:solidFill>
                          <a:latin typeface="Times New Roman" panose="02020603050405020304" pitchFamily="18" charset="0"/>
                          <a:cs typeface="Times New Roman" panose="02020603050405020304" pitchFamily="18" charset="0"/>
                        </a:rPr>
                        <a:t>Small single-arm study; refill reminders and caregiver sharing were rarely used</a:t>
                      </a:r>
                    </a:p>
                  </a:txBody>
                  <a:tcPr marL="73152" marR="73152" marT="36576" marB="36576"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extLst>
                  <a:ext uri="{0D108BD9-81ED-4DB2-BD59-A6C34878D82A}">
                    <a16:rowId xmlns:a16="http://schemas.microsoft.com/office/drawing/2014/main" val="403889468"/>
                  </a:ext>
                </a:extLst>
              </a:tr>
            </a:tbl>
          </a:graphicData>
        </a:graphic>
      </p:graphicFrame>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B7B"/>
                </a:solidFill>
              </a:defRPr>
            </a:lvl1pPr>
          </a:lstStyle>
          <a:p>
            <a:pPr algn="r"/>
            <a:fld id="{F7021451-1387-4CA6-816F-3879F97B5CBC}" type="slidenum">
              <a:rPr lang="en-US" b="0">
                <a:latin typeface="Times New Roman" panose="02020603050405020304" pitchFamily="18" charset="0"/>
                <a:cs typeface="Times New Roman" panose="02020603050405020304" pitchFamily="18" charset="0"/>
              </a:rPr>
              <a:t>5</a:t>
            </a:fld>
            <a:endParaRPr lang="en-US">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B3E9FED-5D03-C8C4-E7E2-B15B475F2969}"/>
              </a:ext>
            </a:extLst>
          </p:cNvPr>
          <p:cNvPicPr>
            <a:picLocks noChangeAspect="1"/>
          </p:cNvPicPr>
          <p:nvPr/>
        </p:nvPicPr>
        <p:blipFill>
          <a:blip r:embed="rId3"/>
          <a:stretch>
            <a:fillRect/>
          </a:stretch>
        </p:blipFill>
        <p:spPr>
          <a:xfrm>
            <a:off x="7227208" y="203457"/>
            <a:ext cx="1377296" cy="37337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594360"/>
          </a:xfrm>
          <a:prstGeom prst="rect">
            <a:avLst/>
          </a:prstGeom>
          <a:noFill/>
          <a:ln/>
        </p:spPr>
        <p:txBody>
          <a:bodyPr wrap="square" lIns="0" tIns="0" rIns="0" bIns="0" rtlCol="0" anchor="ctr"/>
          <a:lstStyle/>
          <a:p>
            <a:pPr marL="0" indent="0" algn="l">
              <a:buNone/>
            </a:pPr>
            <a:r>
              <a:rPr lang="en-US" sz="3200" b="1" dirty="0">
                <a:solidFill>
                  <a:schemeClr val="tx1"/>
                </a:solidFill>
                <a:latin typeface="Times New Roman" panose="02020603050405020304" pitchFamily="18" charset="0"/>
                <a:cs typeface="Times New Roman" panose="02020603050405020304" pitchFamily="18" charset="0"/>
              </a:rPr>
              <a:t>Proposed Solution</a:t>
            </a:r>
            <a:endParaRPr lang="en-US" sz="3200" dirty="0">
              <a:latin typeface="Times New Roman" panose="02020603050405020304" pitchFamily="18" charset="0"/>
              <a:cs typeface="Times New Roman" panose="02020603050405020304" pitchFamily="18" charset="0"/>
            </a:endParaRPr>
          </a:p>
        </p:txBody>
      </p:sp>
      <p:sp>
        <p:nvSpPr>
          <p:cNvPr id="3" name="Text 1"/>
          <p:cNvSpPr txBox="1"/>
          <p:nvPr/>
        </p:nvSpPr>
        <p:spPr>
          <a:xfrm>
            <a:off x="548640" y="1051560"/>
            <a:ext cx="8046720" cy="457200"/>
          </a:xfrm>
          <a:prstGeom prst="rect">
            <a:avLst/>
          </a:prstGeom>
          <a:noFill/>
          <a:ln/>
        </p:spPr>
        <p:txBody>
          <a:bodyPr wrap="square" lIns="0" tIns="0" rIns="0" bIns="0" rtlCol="0" anchor="t"/>
          <a:lstStyle/>
          <a:p>
            <a:pPr marL="0" indent="0">
              <a:buNone/>
            </a:pPr>
            <a:r>
              <a:rPr lang="en-US" sz="1600" dirty="0">
                <a:solidFill>
                  <a:schemeClr val="tx2"/>
                </a:solidFill>
                <a:latin typeface="Times New Roman" panose="02020603050405020304" pitchFamily="18" charset="0"/>
                <a:cs typeface="Times New Roman" panose="02020603050405020304" pitchFamily="18" charset="0"/>
              </a:rPr>
              <a:t>A centralized dashboard where patients confirm doses and caregivers stay informed.</a:t>
            </a:r>
            <a:endParaRPr lang="en-US" sz="1600" dirty="0">
              <a:latin typeface="Times New Roman" panose="02020603050405020304" pitchFamily="18" charset="0"/>
              <a:cs typeface="Times New Roman" panose="02020603050405020304" pitchFamily="18" charset="0"/>
            </a:endParaRPr>
          </a:p>
        </p:txBody>
      </p:sp>
      <p:sp>
        <p:nvSpPr>
          <p:cNvPr id="4" name="Feature 1 card"/>
          <p:cNvSpPr/>
          <p:nvPr/>
        </p:nvSpPr>
        <p:spPr>
          <a:xfrm>
            <a:off x="548640" y="1691640"/>
            <a:ext cx="2560320" cy="1325880"/>
          </a:xfrm>
          <a:prstGeom prst="rect">
            <a:avLst/>
          </a:prstGeom>
          <a:solidFill>
            <a:schemeClr val="bg2"/>
          </a:solidFill>
          <a:ln w="12700">
            <a:solidFill>
              <a:schemeClr val="bg2"/>
            </a:solidFill>
            <a:prstDash val="solid"/>
          </a:ln>
        </p:spPr>
      </p:sp>
      <p:sp>
        <p:nvSpPr>
          <p:cNvPr id="5" name="Medication scheduling circle"/>
          <p:cNvSpPr/>
          <p:nvPr/>
        </p:nvSpPr>
        <p:spPr>
          <a:xfrm>
            <a:off x="731520" y="1874520"/>
            <a:ext cx="502920" cy="502920"/>
          </a:xfrm>
          <a:prstGeom prst="ellipse">
            <a:avLst/>
          </a:prstGeom>
          <a:solidFill>
            <a:schemeClr val="bg2"/>
          </a:solidFill>
          <a:ln w="12700">
            <a:solidFill>
              <a:schemeClr val="bg2"/>
            </a:solidFill>
            <a:prstDash val="solid"/>
          </a:ln>
        </p:spPr>
      </p:sp>
      <p:pic>
        <p:nvPicPr>
          <p:cNvPr id="6" name="Medication scheduling icon" descr="Medication scheduling"/>
          <p:cNvPicPr>
            <a:picLocks noChangeAspect="1"/>
          </p:cNvPicPr>
          <p:nvPr/>
        </p:nvPicPr>
        <p:blipFill>
          <a:blip r:embed="rId3"/>
          <a:stretch>
            <a:fillRect/>
          </a:stretch>
        </p:blipFill>
        <p:spPr>
          <a:xfrm>
            <a:off x="857250" y="2000250"/>
            <a:ext cx="251460" cy="251460"/>
          </a:xfrm>
          <a:prstGeom prst="rect">
            <a:avLst/>
          </a:prstGeom>
        </p:spPr>
      </p:pic>
      <p:sp>
        <p:nvSpPr>
          <p:cNvPr id="7" name="Text 4"/>
          <p:cNvSpPr txBox="1"/>
          <p:nvPr/>
        </p:nvSpPr>
        <p:spPr>
          <a:xfrm>
            <a:off x="1371600" y="1874520"/>
            <a:ext cx="1645920" cy="502920"/>
          </a:xfrm>
          <a:prstGeom prst="rect">
            <a:avLst/>
          </a:prstGeom>
          <a:noFill/>
          <a:ln/>
        </p:spPr>
        <p:txBody>
          <a:bodyPr wrap="square" lIns="0" tIns="0" rIns="0" bIns="0" rtlCol="0" anchor="ctr"/>
          <a:lstStyle/>
          <a:p>
            <a:pPr marL="0" indent="0">
              <a:buNone/>
            </a:pPr>
            <a:r>
              <a:rPr lang="en-US" sz="1400" b="1" dirty="0">
                <a:solidFill>
                  <a:schemeClr val="tx1"/>
                </a:solidFill>
                <a:latin typeface="Times New Roman" panose="02020603050405020304" pitchFamily="18" charset="0"/>
                <a:cs typeface="Times New Roman" panose="02020603050405020304" pitchFamily="18" charset="0"/>
              </a:rPr>
              <a:t>Medication scheduling</a:t>
            </a:r>
            <a:endParaRPr lang="en-US" sz="1400" dirty="0">
              <a:latin typeface="Times New Roman" panose="02020603050405020304" pitchFamily="18" charset="0"/>
              <a:cs typeface="Times New Roman" panose="02020603050405020304" pitchFamily="18" charset="0"/>
            </a:endParaRPr>
          </a:p>
        </p:txBody>
      </p:sp>
      <p:sp>
        <p:nvSpPr>
          <p:cNvPr id="8" name="Text 5"/>
          <p:cNvSpPr txBox="1"/>
          <p:nvPr/>
        </p:nvSpPr>
        <p:spPr>
          <a:xfrm>
            <a:off x="731520" y="2514600"/>
            <a:ext cx="2194560" cy="411480"/>
          </a:xfrm>
          <a:prstGeom prst="rect">
            <a:avLst/>
          </a:prstGeom>
          <a:noFill/>
          <a:ln/>
        </p:spPr>
        <p:txBody>
          <a:bodyPr wrap="square" lIns="0" tIns="0" rIns="0" bIns="0" rtlCol="0" anchor="t"/>
          <a:lstStyle/>
          <a:p>
            <a:pPr marL="0" indent="0">
              <a:buNone/>
            </a:pPr>
            <a:r>
              <a:rPr lang="en-US" sz="1200" dirty="0">
                <a:solidFill>
                  <a:schemeClr val="tx2"/>
                </a:solidFill>
                <a:latin typeface="Times New Roman" panose="02020603050405020304" pitchFamily="18" charset="0"/>
                <a:cs typeface="Times New Roman" panose="02020603050405020304" pitchFamily="18" charset="0"/>
              </a:rPr>
              <a:t>Doses and timings per person</a:t>
            </a:r>
            <a:endParaRPr lang="en-US" sz="1200" dirty="0">
              <a:latin typeface="Times New Roman" panose="02020603050405020304" pitchFamily="18" charset="0"/>
              <a:cs typeface="Times New Roman" panose="02020603050405020304" pitchFamily="18" charset="0"/>
            </a:endParaRPr>
          </a:p>
        </p:txBody>
      </p:sp>
      <p:sp>
        <p:nvSpPr>
          <p:cNvPr id="9" name="Feature 2 card"/>
          <p:cNvSpPr/>
          <p:nvPr/>
        </p:nvSpPr>
        <p:spPr>
          <a:xfrm>
            <a:off x="3291840" y="1691640"/>
            <a:ext cx="2560320" cy="1325880"/>
          </a:xfrm>
          <a:prstGeom prst="rect">
            <a:avLst/>
          </a:prstGeom>
          <a:solidFill>
            <a:schemeClr val="bg2"/>
          </a:solidFill>
          <a:ln w="12700">
            <a:solidFill>
              <a:schemeClr val="bg2"/>
            </a:solidFill>
            <a:prstDash val="solid"/>
          </a:ln>
        </p:spPr>
      </p:sp>
      <p:sp>
        <p:nvSpPr>
          <p:cNvPr id="10" name="Patient reminders circle"/>
          <p:cNvSpPr/>
          <p:nvPr/>
        </p:nvSpPr>
        <p:spPr>
          <a:xfrm>
            <a:off x="3474720" y="1874520"/>
            <a:ext cx="502920" cy="502920"/>
          </a:xfrm>
          <a:prstGeom prst="ellipse">
            <a:avLst/>
          </a:prstGeom>
          <a:solidFill>
            <a:schemeClr val="bg2"/>
          </a:solidFill>
          <a:ln w="12700">
            <a:solidFill>
              <a:schemeClr val="bg2"/>
            </a:solidFill>
            <a:prstDash val="solid"/>
          </a:ln>
        </p:spPr>
      </p:sp>
      <p:pic>
        <p:nvPicPr>
          <p:cNvPr id="11" name="Patient reminders icon" descr="Patient reminders"/>
          <p:cNvPicPr>
            <a:picLocks noChangeAspect="1"/>
          </p:cNvPicPr>
          <p:nvPr/>
        </p:nvPicPr>
        <p:blipFill>
          <a:blip r:embed="rId4"/>
          <a:stretch>
            <a:fillRect/>
          </a:stretch>
        </p:blipFill>
        <p:spPr>
          <a:xfrm>
            <a:off x="3600450" y="2000250"/>
            <a:ext cx="251460" cy="251460"/>
          </a:xfrm>
          <a:prstGeom prst="rect">
            <a:avLst/>
          </a:prstGeom>
        </p:spPr>
      </p:pic>
      <p:sp>
        <p:nvSpPr>
          <p:cNvPr id="12" name="Text 8"/>
          <p:cNvSpPr txBox="1"/>
          <p:nvPr/>
        </p:nvSpPr>
        <p:spPr>
          <a:xfrm>
            <a:off x="4114800" y="1874520"/>
            <a:ext cx="1645920" cy="502920"/>
          </a:xfrm>
          <a:prstGeom prst="rect">
            <a:avLst/>
          </a:prstGeom>
          <a:noFill/>
          <a:ln/>
        </p:spPr>
        <p:txBody>
          <a:bodyPr wrap="square" lIns="0" tIns="0" rIns="0" bIns="0" rtlCol="0" anchor="ctr"/>
          <a:lstStyle/>
          <a:p>
            <a:pPr marL="0" indent="0">
              <a:buNone/>
            </a:pPr>
            <a:r>
              <a:rPr lang="en-US" sz="1400" b="1" dirty="0">
                <a:solidFill>
                  <a:schemeClr val="tx1"/>
                </a:solidFill>
                <a:latin typeface="Times New Roman" panose="02020603050405020304" pitchFamily="18" charset="0"/>
                <a:cs typeface="Times New Roman" panose="02020603050405020304" pitchFamily="18" charset="0"/>
              </a:rPr>
              <a:t>Patient reminders</a:t>
            </a:r>
            <a:endParaRPr lang="en-US" sz="1400" dirty="0">
              <a:latin typeface="Times New Roman" panose="02020603050405020304" pitchFamily="18" charset="0"/>
              <a:cs typeface="Times New Roman" panose="02020603050405020304" pitchFamily="18" charset="0"/>
            </a:endParaRPr>
          </a:p>
        </p:txBody>
      </p:sp>
      <p:sp>
        <p:nvSpPr>
          <p:cNvPr id="13" name="Text 9"/>
          <p:cNvSpPr txBox="1"/>
          <p:nvPr/>
        </p:nvSpPr>
        <p:spPr>
          <a:xfrm>
            <a:off x="3474720" y="2514600"/>
            <a:ext cx="2194560" cy="411480"/>
          </a:xfrm>
          <a:prstGeom prst="rect">
            <a:avLst/>
          </a:prstGeom>
          <a:noFill/>
          <a:ln/>
        </p:spPr>
        <p:txBody>
          <a:bodyPr wrap="square" lIns="0" tIns="0" rIns="0" bIns="0" rtlCol="0" anchor="t"/>
          <a:lstStyle/>
          <a:p>
            <a:pPr marL="0" indent="0">
              <a:buNone/>
            </a:pPr>
            <a:r>
              <a:rPr lang="en-US" sz="1200" dirty="0">
                <a:solidFill>
                  <a:schemeClr val="tx2"/>
                </a:solidFill>
                <a:latin typeface="Times New Roman" panose="02020603050405020304" pitchFamily="18" charset="0"/>
                <a:cs typeface="Times New Roman" panose="02020603050405020304" pitchFamily="18" charset="0"/>
              </a:rPr>
              <a:t>Alerts at each dose time</a:t>
            </a:r>
            <a:endParaRPr lang="en-US" sz="1200" dirty="0">
              <a:latin typeface="Times New Roman" panose="02020603050405020304" pitchFamily="18" charset="0"/>
              <a:cs typeface="Times New Roman" panose="02020603050405020304" pitchFamily="18" charset="0"/>
            </a:endParaRPr>
          </a:p>
        </p:txBody>
      </p:sp>
      <p:sp>
        <p:nvSpPr>
          <p:cNvPr id="14" name="Feature 3 card"/>
          <p:cNvSpPr/>
          <p:nvPr/>
        </p:nvSpPr>
        <p:spPr>
          <a:xfrm>
            <a:off x="6035040" y="1691640"/>
            <a:ext cx="2560320" cy="1325880"/>
          </a:xfrm>
          <a:prstGeom prst="rect">
            <a:avLst/>
          </a:prstGeom>
          <a:solidFill>
            <a:schemeClr val="bg2"/>
          </a:solidFill>
          <a:ln w="12700">
            <a:solidFill>
              <a:schemeClr val="bg2"/>
            </a:solidFill>
            <a:prstDash val="solid"/>
          </a:ln>
        </p:spPr>
      </p:sp>
      <p:sp>
        <p:nvSpPr>
          <p:cNvPr id="15" name="Dose confirmation circle"/>
          <p:cNvSpPr/>
          <p:nvPr/>
        </p:nvSpPr>
        <p:spPr>
          <a:xfrm>
            <a:off x="6217920" y="1874520"/>
            <a:ext cx="502920" cy="502920"/>
          </a:xfrm>
          <a:prstGeom prst="ellipse">
            <a:avLst/>
          </a:prstGeom>
          <a:solidFill>
            <a:schemeClr val="bg2"/>
          </a:solidFill>
          <a:ln w="12700">
            <a:solidFill>
              <a:schemeClr val="bg2"/>
            </a:solidFill>
            <a:prstDash val="solid"/>
          </a:ln>
        </p:spPr>
      </p:sp>
      <p:pic>
        <p:nvPicPr>
          <p:cNvPr id="16" name="Dose confirmation icon" descr="Dose confirmation"/>
          <p:cNvPicPr>
            <a:picLocks noChangeAspect="1"/>
          </p:cNvPicPr>
          <p:nvPr/>
        </p:nvPicPr>
        <p:blipFill>
          <a:blip r:embed="rId5"/>
          <a:stretch>
            <a:fillRect/>
          </a:stretch>
        </p:blipFill>
        <p:spPr>
          <a:xfrm>
            <a:off x="6343650" y="2000250"/>
            <a:ext cx="251460" cy="251460"/>
          </a:xfrm>
          <a:prstGeom prst="rect">
            <a:avLst/>
          </a:prstGeom>
        </p:spPr>
      </p:pic>
      <p:sp>
        <p:nvSpPr>
          <p:cNvPr id="17" name="Text 12"/>
          <p:cNvSpPr txBox="1"/>
          <p:nvPr/>
        </p:nvSpPr>
        <p:spPr>
          <a:xfrm>
            <a:off x="6858000" y="1874520"/>
            <a:ext cx="1645920" cy="502920"/>
          </a:xfrm>
          <a:prstGeom prst="rect">
            <a:avLst/>
          </a:prstGeom>
          <a:noFill/>
          <a:ln/>
        </p:spPr>
        <p:txBody>
          <a:bodyPr wrap="square" lIns="0" tIns="0" rIns="0" bIns="0" rtlCol="0" anchor="ctr"/>
          <a:lstStyle/>
          <a:p>
            <a:pPr marL="0" indent="0">
              <a:buNone/>
            </a:pPr>
            <a:r>
              <a:rPr lang="en-US" sz="1400" b="1" dirty="0">
                <a:solidFill>
                  <a:schemeClr val="tx1"/>
                </a:solidFill>
                <a:latin typeface="Times New Roman" panose="02020603050405020304" pitchFamily="18" charset="0"/>
                <a:cs typeface="Times New Roman" panose="02020603050405020304" pitchFamily="18" charset="0"/>
              </a:rPr>
              <a:t>Dose confirmation</a:t>
            </a:r>
            <a:endParaRPr lang="en-US" sz="1400" dirty="0">
              <a:latin typeface="Times New Roman" panose="02020603050405020304" pitchFamily="18" charset="0"/>
              <a:cs typeface="Times New Roman" panose="02020603050405020304" pitchFamily="18" charset="0"/>
            </a:endParaRPr>
          </a:p>
        </p:txBody>
      </p:sp>
      <p:sp>
        <p:nvSpPr>
          <p:cNvPr id="18" name="Text 13"/>
          <p:cNvSpPr txBox="1"/>
          <p:nvPr/>
        </p:nvSpPr>
        <p:spPr>
          <a:xfrm>
            <a:off x="6217920" y="2514600"/>
            <a:ext cx="2194560" cy="411480"/>
          </a:xfrm>
          <a:prstGeom prst="rect">
            <a:avLst/>
          </a:prstGeom>
          <a:noFill/>
          <a:ln/>
        </p:spPr>
        <p:txBody>
          <a:bodyPr wrap="square" lIns="0" tIns="0" rIns="0" bIns="0" rtlCol="0" anchor="t"/>
          <a:lstStyle/>
          <a:p>
            <a:pPr marL="0" indent="0">
              <a:buNone/>
            </a:pPr>
            <a:r>
              <a:rPr lang="en-US" sz="1200" dirty="0">
                <a:solidFill>
                  <a:schemeClr val="tx2"/>
                </a:solidFill>
                <a:latin typeface="Times New Roman" panose="02020603050405020304" pitchFamily="18" charset="0"/>
                <a:cs typeface="Times New Roman" panose="02020603050405020304" pitchFamily="18" charset="0"/>
              </a:rPr>
              <a:t>Patient confirms each dose</a:t>
            </a:r>
            <a:endParaRPr lang="en-US" sz="1200" dirty="0">
              <a:latin typeface="Times New Roman" panose="02020603050405020304" pitchFamily="18" charset="0"/>
              <a:cs typeface="Times New Roman" panose="02020603050405020304" pitchFamily="18" charset="0"/>
            </a:endParaRPr>
          </a:p>
        </p:txBody>
      </p:sp>
      <p:sp>
        <p:nvSpPr>
          <p:cNvPr id="19" name="Feature 4 card"/>
          <p:cNvSpPr/>
          <p:nvPr/>
        </p:nvSpPr>
        <p:spPr>
          <a:xfrm>
            <a:off x="548640" y="3200400"/>
            <a:ext cx="2560320" cy="1325880"/>
          </a:xfrm>
          <a:prstGeom prst="rect">
            <a:avLst/>
          </a:prstGeom>
          <a:solidFill>
            <a:schemeClr val="bg2"/>
          </a:solidFill>
          <a:ln w="12700">
            <a:solidFill>
              <a:schemeClr val="bg2"/>
            </a:solidFill>
            <a:prstDash val="solid"/>
          </a:ln>
        </p:spPr>
      </p:sp>
      <p:sp>
        <p:nvSpPr>
          <p:cNvPr id="20" name="Missed-dose detection circle"/>
          <p:cNvSpPr/>
          <p:nvPr/>
        </p:nvSpPr>
        <p:spPr>
          <a:xfrm>
            <a:off x="731520" y="3383280"/>
            <a:ext cx="502920" cy="502920"/>
          </a:xfrm>
          <a:prstGeom prst="ellipse">
            <a:avLst/>
          </a:prstGeom>
          <a:solidFill>
            <a:schemeClr val="bg2"/>
          </a:solidFill>
          <a:ln w="12700">
            <a:solidFill>
              <a:schemeClr val="bg2"/>
            </a:solidFill>
            <a:prstDash val="solid"/>
          </a:ln>
        </p:spPr>
      </p:sp>
      <p:pic>
        <p:nvPicPr>
          <p:cNvPr id="21" name="Missed-dose detection icon" descr="Missed-dose detection"/>
          <p:cNvPicPr>
            <a:picLocks noChangeAspect="1"/>
          </p:cNvPicPr>
          <p:nvPr/>
        </p:nvPicPr>
        <p:blipFill>
          <a:blip r:embed="rId6"/>
          <a:stretch>
            <a:fillRect/>
          </a:stretch>
        </p:blipFill>
        <p:spPr>
          <a:xfrm>
            <a:off x="857250" y="3509010"/>
            <a:ext cx="251460" cy="251460"/>
          </a:xfrm>
          <a:prstGeom prst="rect">
            <a:avLst/>
          </a:prstGeom>
        </p:spPr>
      </p:pic>
      <p:sp>
        <p:nvSpPr>
          <p:cNvPr id="22" name="Text 16"/>
          <p:cNvSpPr txBox="1"/>
          <p:nvPr/>
        </p:nvSpPr>
        <p:spPr>
          <a:xfrm>
            <a:off x="1371600" y="3383280"/>
            <a:ext cx="1645920" cy="502920"/>
          </a:xfrm>
          <a:prstGeom prst="rect">
            <a:avLst/>
          </a:prstGeom>
          <a:noFill/>
          <a:ln/>
        </p:spPr>
        <p:txBody>
          <a:bodyPr wrap="square" lIns="0" tIns="0" rIns="0" bIns="0" rtlCol="0" anchor="ctr"/>
          <a:lstStyle/>
          <a:p>
            <a:pPr marL="0" indent="0">
              <a:buNone/>
            </a:pPr>
            <a:r>
              <a:rPr lang="en-US" sz="1400" b="1" dirty="0">
                <a:solidFill>
                  <a:schemeClr val="tx1"/>
                </a:solidFill>
                <a:latin typeface="Times New Roman" panose="02020603050405020304" pitchFamily="18" charset="0"/>
                <a:cs typeface="Times New Roman" panose="02020603050405020304" pitchFamily="18" charset="0"/>
              </a:rPr>
              <a:t>Missed-dose detection</a:t>
            </a:r>
            <a:endParaRPr lang="en-US" sz="1400" dirty="0">
              <a:latin typeface="Times New Roman" panose="02020603050405020304" pitchFamily="18" charset="0"/>
              <a:cs typeface="Times New Roman" panose="02020603050405020304" pitchFamily="18" charset="0"/>
            </a:endParaRPr>
          </a:p>
        </p:txBody>
      </p:sp>
      <p:sp>
        <p:nvSpPr>
          <p:cNvPr id="23" name="Text 17"/>
          <p:cNvSpPr txBox="1"/>
          <p:nvPr/>
        </p:nvSpPr>
        <p:spPr>
          <a:xfrm>
            <a:off x="731520" y="4023360"/>
            <a:ext cx="2194560" cy="411480"/>
          </a:xfrm>
          <a:prstGeom prst="rect">
            <a:avLst/>
          </a:prstGeom>
          <a:noFill/>
          <a:ln/>
        </p:spPr>
        <p:txBody>
          <a:bodyPr wrap="square" lIns="0" tIns="0" rIns="0" bIns="0" rtlCol="0" anchor="t"/>
          <a:lstStyle/>
          <a:p>
            <a:pPr marL="0" indent="0">
              <a:buNone/>
            </a:pPr>
            <a:r>
              <a:rPr lang="en-US" sz="1200" dirty="0">
                <a:solidFill>
                  <a:schemeClr val="tx2"/>
                </a:solidFill>
                <a:latin typeface="Times New Roman" panose="02020603050405020304" pitchFamily="18" charset="0"/>
                <a:cs typeface="Times New Roman" panose="02020603050405020304" pitchFamily="18" charset="0"/>
              </a:rPr>
              <a:t>Unconfirmed doses flagged overdue</a:t>
            </a:r>
            <a:endParaRPr lang="en-US" sz="1200" dirty="0">
              <a:latin typeface="Times New Roman" panose="02020603050405020304" pitchFamily="18" charset="0"/>
              <a:cs typeface="Times New Roman" panose="02020603050405020304" pitchFamily="18" charset="0"/>
            </a:endParaRPr>
          </a:p>
        </p:txBody>
      </p:sp>
      <p:sp>
        <p:nvSpPr>
          <p:cNvPr id="24" name="Feature 5 card"/>
          <p:cNvSpPr/>
          <p:nvPr/>
        </p:nvSpPr>
        <p:spPr>
          <a:xfrm>
            <a:off x="3291840" y="3200400"/>
            <a:ext cx="2560320" cy="1325880"/>
          </a:xfrm>
          <a:prstGeom prst="rect">
            <a:avLst/>
          </a:prstGeom>
          <a:solidFill>
            <a:schemeClr val="bg2"/>
          </a:solidFill>
          <a:ln w="12700">
            <a:solidFill>
              <a:schemeClr val="bg2"/>
            </a:solidFill>
            <a:prstDash val="solid"/>
          </a:ln>
        </p:spPr>
      </p:sp>
      <p:sp>
        <p:nvSpPr>
          <p:cNvPr id="25" name="Caregiver SMS / email circle"/>
          <p:cNvSpPr/>
          <p:nvPr/>
        </p:nvSpPr>
        <p:spPr>
          <a:xfrm>
            <a:off x="3474720" y="3383280"/>
            <a:ext cx="502920" cy="502920"/>
          </a:xfrm>
          <a:prstGeom prst="ellipse">
            <a:avLst/>
          </a:prstGeom>
          <a:solidFill>
            <a:schemeClr val="bg2"/>
          </a:solidFill>
          <a:ln w="12700">
            <a:solidFill>
              <a:schemeClr val="bg2"/>
            </a:solidFill>
            <a:prstDash val="solid"/>
          </a:ln>
        </p:spPr>
      </p:sp>
      <p:pic>
        <p:nvPicPr>
          <p:cNvPr id="26" name="Caregiver SMS / email icon" descr="Caregiver SMS / email"/>
          <p:cNvPicPr>
            <a:picLocks noChangeAspect="1"/>
          </p:cNvPicPr>
          <p:nvPr/>
        </p:nvPicPr>
        <p:blipFill>
          <a:blip r:embed="rId7"/>
          <a:stretch>
            <a:fillRect/>
          </a:stretch>
        </p:blipFill>
        <p:spPr>
          <a:xfrm>
            <a:off x="3600450" y="3509010"/>
            <a:ext cx="251460" cy="251460"/>
          </a:xfrm>
          <a:prstGeom prst="rect">
            <a:avLst/>
          </a:prstGeom>
        </p:spPr>
      </p:pic>
      <p:sp>
        <p:nvSpPr>
          <p:cNvPr id="27" name="Text 20"/>
          <p:cNvSpPr txBox="1"/>
          <p:nvPr/>
        </p:nvSpPr>
        <p:spPr>
          <a:xfrm>
            <a:off x="4114800" y="3383280"/>
            <a:ext cx="1645920" cy="502920"/>
          </a:xfrm>
          <a:prstGeom prst="rect">
            <a:avLst/>
          </a:prstGeom>
          <a:noFill/>
          <a:ln/>
        </p:spPr>
        <p:txBody>
          <a:bodyPr wrap="square" lIns="0" tIns="0" rIns="0" bIns="0" rtlCol="0" anchor="ctr"/>
          <a:lstStyle/>
          <a:p>
            <a:pPr marL="0" indent="0">
              <a:buNone/>
            </a:pPr>
            <a:r>
              <a:rPr lang="en-US" sz="1400" b="1" dirty="0">
                <a:solidFill>
                  <a:schemeClr val="tx1"/>
                </a:solidFill>
                <a:latin typeface="Times New Roman" panose="02020603050405020304" pitchFamily="18" charset="0"/>
                <a:cs typeface="Times New Roman" panose="02020603050405020304" pitchFamily="18" charset="0"/>
              </a:rPr>
              <a:t>Caregiver SMS / email</a:t>
            </a:r>
            <a:endParaRPr lang="en-US" sz="1400" dirty="0">
              <a:latin typeface="Times New Roman" panose="02020603050405020304" pitchFamily="18" charset="0"/>
              <a:cs typeface="Times New Roman" panose="02020603050405020304" pitchFamily="18" charset="0"/>
            </a:endParaRPr>
          </a:p>
        </p:txBody>
      </p:sp>
      <p:sp>
        <p:nvSpPr>
          <p:cNvPr id="28" name="Text 21"/>
          <p:cNvSpPr txBox="1"/>
          <p:nvPr/>
        </p:nvSpPr>
        <p:spPr>
          <a:xfrm>
            <a:off x="3474720" y="4023360"/>
            <a:ext cx="2194560" cy="411480"/>
          </a:xfrm>
          <a:prstGeom prst="rect">
            <a:avLst/>
          </a:prstGeom>
          <a:noFill/>
          <a:ln/>
        </p:spPr>
        <p:txBody>
          <a:bodyPr wrap="square" lIns="0" tIns="0" rIns="0" bIns="0" rtlCol="0" anchor="t"/>
          <a:lstStyle/>
          <a:p>
            <a:pPr marL="0" indent="0">
              <a:buNone/>
            </a:pPr>
            <a:r>
              <a:rPr lang="en-US" sz="1200" dirty="0">
                <a:solidFill>
                  <a:schemeClr val="tx2"/>
                </a:solidFill>
                <a:latin typeface="Times New Roman" panose="02020603050405020304" pitchFamily="18" charset="0"/>
                <a:cs typeface="Times New Roman" panose="02020603050405020304" pitchFamily="18" charset="0"/>
              </a:rPr>
              <a:t>Sent to consenting caregivers</a:t>
            </a:r>
            <a:endParaRPr lang="en-US" sz="1200" dirty="0">
              <a:latin typeface="Times New Roman" panose="02020603050405020304" pitchFamily="18" charset="0"/>
              <a:cs typeface="Times New Roman" panose="02020603050405020304" pitchFamily="18" charset="0"/>
            </a:endParaRPr>
          </a:p>
        </p:txBody>
      </p:sp>
      <p:sp>
        <p:nvSpPr>
          <p:cNvPr id="29" name="Feature 6 card"/>
          <p:cNvSpPr/>
          <p:nvPr/>
        </p:nvSpPr>
        <p:spPr>
          <a:xfrm>
            <a:off x="6035040" y="3200400"/>
            <a:ext cx="2560320" cy="1325880"/>
          </a:xfrm>
          <a:prstGeom prst="rect">
            <a:avLst/>
          </a:prstGeom>
          <a:solidFill>
            <a:schemeClr val="bg2"/>
          </a:solidFill>
          <a:ln w="12700">
            <a:solidFill>
              <a:schemeClr val="bg2"/>
            </a:solidFill>
            <a:prstDash val="solid"/>
          </a:ln>
        </p:spPr>
      </p:sp>
      <p:sp>
        <p:nvSpPr>
          <p:cNvPr id="30" name="Refills &amp; reports circle"/>
          <p:cNvSpPr/>
          <p:nvPr/>
        </p:nvSpPr>
        <p:spPr>
          <a:xfrm>
            <a:off x="6217920" y="3383280"/>
            <a:ext cx="502920" cy="502920"/>
          </a:xfrm>
          <a:prstGeom prst="ellipse">
            <a:avLst/>
          </a:prstGeom>
          <a:solidFill>
            <a:schemeClr val="bg2"/>
          </a:solidFill>
          <a:ln w="12700">
            <a:solidFill>
              <a:schemeClr val="bg2"/>
            </a:solidFill>
            <a:prstDash val="solid"/>
          </a:ln>
        </p:spPr>
      </p:sp>
      <p:pic>
        <p:nvPicPr>
          <p:cNvPr id="31" name="Refills &amp; reports icon" descr="Refills &amp; reports"/>
          <p:cNvPicPr>
            <a:picLocks noChangeAspect="1"/>
          </p:cNvPicPr>
          <p:nvPr/>
        </p:nvPicPr>
        <p:blipFill>
          <a:blip r:embed="rId8"/>
          <a:stretch>
            <a:fillRect/>
          </a:stretch>
        </p:blipFill>
        <p:spPr>
          <a:xfrm>
            <a:off x="6343650" y="3509010"/>
            <a:ext cx="251460" cy="251460"/>
          </a:xfrm>
          <a:prstGeom prst="rect">
            <a:avLst/>
          </a:prstGeom>
        </p:spPr>
      </p:pic>
      <p:sp>
        <p:nvSpPr>
          <p:cNvPr id="32" name="Text 24"/>
          <p:cNvSpPr txBox="1"/>
          <p:nvPr/>
        </p:nvSpPr>
        <p:spPr>
          <a:xfrm>
            <a:off x="6858000" y="3383280"/>
            <a:ext cx="1645920" cy="502920"/>
          </a:xfrm>
          <a:prstGeom prst="rect">
            <a:avLst/>
          </a:prstGeom>
          <a:noFill/>
          <a:ln/>
        </p:spPr>
        <p:txBody>
          <a:bodyPr wrap="square" lIns="0" tIns="0" rIns="0" bIns="0" rtlCol="0" anchor="ctr"/>
          <a:lstStyle/>
          <a:p>
            <a:pPr marL="0" indent="0">
              <a:buNone/>
            </a:pPr>
            <a:r>
              <a:rPr lang="en-US" sz="1400" b="1" dirty="0">
                <a:solidFill>
                  <a:schemeClr val="tx1"/>
                </a:solidFill>
                <a:latin typeface="Times New Roman" panose="02020603050405020304" pitchFamily="18" charset="0"/>
                <a:cs typeface="Times New Roman" panose="02020603050405020304" pitchFamily="18" charset="0"/>
              </a:rPr>
              <a:t>Refills &amp; reports</a:t>
            </a:r>
            <a:endParaRPr lang="en-US" sz="1400" dirty="0">
              <a:latin typeface="Times New Roman" panose="02020603050405020304" pitchFamily="18" charset="0"/>
              <a:cs typeface="Times New Roman" panose="02020603050405020304" pitchFamily="18" charset="0"/>
            </a:endParaRPr>
          </a:p>
        </p:txBody>
      </p:sp>
      <p:sp>
        <p:nvSpPr>
          <p:cNvPr id="33" name="Text 25"/>
          <p:cNvSpPr txBox="1"/>
          <p:nvPr/>
        </p:nvSpPr>
        <p:spPr>
          <a:xfrm>
            <a:off x="6217920" y="4023360"/>
            <a:ext cx="2194560" cy="411480"/>
          </a:xfrm>
          <a:prstGeom prst="rect">
            <a:avLst/>
          </a:prstGeom>
          <a:noFill/>
          <a:ln/>
        </p:spPr>
        <p:txBody>
          <a:bodyPr wrap="square" lIns="0" tIns="0" rIns="0" bIns="0" rtlCol="0" anchor="t"/>
          <a:lstStyle/>
          <a:p>
            <a:pPr marL="0" indent="0">
              <a:buNone/>
            </a:pPr>
            <a:r>
              <a:rPr lang="en-US" sz="1200" dirty="0">
                <a:solidFill>
                  <a:schemeClr val="tx2"/>
                </a:solidFill>
                <a:latin typeface="Times New Roman" panose="02020603050405020304" pitchFamily="18" charset="0"/>
                <a:cs typeface="Times New Roman" panose="02020603050405020304" pitchFamily="18" charset="0"/>
              </a:rPr>
              <a:t>Stock levels and adherence history</a:t>
            </a:r>
            <a:endParaRPr lang="en-US" sz="1200" dirty="0">
              <a:latin typeface="Times New Roman" panose="02020603050405020304" pitchFamily="18" charset="0"/>
              <a:cs typeface="Times New Roman" panose="02020603050405020304" pitchFamily="18" charset="0"/>
            </a:endParaRPr>
          </a:p>
        </p:txBody>
      </p:sp>
      <p:sp>
        <p:nvSpPr>
          <p:cNvPr id="34"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B7B"/>
                </a:solidFill>
              </a:defRPr>
            </a:lvl1pPr>
          </a:lstStyle>
          <a:p>
            <a:pPr algn="r"/>
            <a:fld id="{F7021451-1387-4CA6-816F-3879F97B5CBC}" type="slidenum">
              <a:rPr lang="en-US" b="0">
                <a:latin typeface="Times New Roman" panose="02020603050405020304" pitchFamily="18" charset="0"/>
                <a:cs typeface="Times New Roman" panose="02020603050405020304" pitchFamily="18" charset="0"/>
              </a:rPr>
              <a:t>6</a:t>
            </a:fld>
            <a:endParaRPr lang="en-US">
              <a:latin typeface="Times New Roman" panose="02020603050405020304" pitchFamily="18" charset="0"/>
              <a:cs typeface="Times New Roman" panose="02020603050405020304" pitchFamily="18" charset="0"/>
            </a:endParaRPr>
          </a:p>
        </p:txBody>
      </p:sp>
      <p:pic>
        <p:nvPicPr>
          <p:cNvPr id="36" name="Picture 35">
            <a:extLst>
              <a:ext uri="{FF2B5EF4-FFF2-40B4-BE49-F238E27FC236}">
                <a16:creationId xmlns:a16="http://schemas.microsoft.com/office/drawing/2014/main" id="{B9AD3B8D-6DE1-7F9B-53F3-2D2DA14DBAE8}"/>
              </a:ext>
            </a:extLst>
          </p:cNvPr>
          <p:cNvPicPr>
            <a:picLocks noChangeAspect="1"/>
          </p:cNvPicPr>
          <p:nvPr/>
        </p:nvPicPr>
        <p:blipFill>
          <a:blip r:embed="rId9"/>
          <a:stretch>
            <a:fillRect/>
          </a:stretch>
        </p:blipFill>
        <p:spPr>
          <a:xfrm>
            <a:off x="7227208" y="203457"/>
            <a:ext cx="1377296" cy="37337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594360"/>
          </a:xfrm>
          <a:prstGeom prst="rect">
            <a:avLst/>
          </a:prstGeom>
          <a:noFill/>
          <a:ln/>
        </p:spPr>
        <p:txBody>
          <a:bodyPr wrap="square" lIns="0" tIns="0" rIns="0" bIns="0" rtlCol="0" anchor="ctr"/>
          <a:lstStyle/>
          <a:p>
            <a:pPr marL="0" indent="0" algn="l">
              <a:buNone/>
            </a:pPr>
            <a:r>
              <a:rPr lang="en-US" sz="3200" b="1" dirty="0">
                <a:solidFill>
                  <a:schemeClr val="tx1"/>
                </a:solidFill>
                <a:latin typeface="Times New Roman" panose="02020603050405020304" pitchFamily="18" charset="0"/>
                <a:cs typeface="Times New Roman" panose="02020603050405020304" pitchFamily="18" charset="0"/>
              </a:rPr>
              <a:t>System Architecture</a:t>
            </a:r>
            <a:endParaRPr lang="en-US" sz="3200" dirty="0">
              <a:latin typeface="Times New Roman" panose="02020603050405020304" pitchFamily="18" charset="0"/>
              <a:cs typeface="Times New Roman" panose="02020603050405020304" pitchFamily="18" charset="0"/>
            </a:endParaRPr>
          </a:p>
        </p:txBody>
      </p:sp>
      <p:sp>
        <p:nvSpPr>
          <p:cNvPr id="3" name="Block: Patient / Caregiver"/>
          <p:cNvSpPr txBox="1"/>
          <p:nvPr/>
        </p:nvSpPr>
        <p:spPr>
          <a:xfrm>
            <a:off x="548640" y="1097280"/>
            <a:ext cx="1691640" cy="640080"/>
          </a:xfrm>
          <a:prstGeom prst="rect">
            <a:avLst/>
          </a:prstGeom>
          <a:solidFill>
            <a:schemeClr val="bg1"/>
          </a:solidFill>
          <a:ln w="15875">
            <a:solidFill>
              <a:schemeClr val="tx1"/>
            </a:solidFill>
          </a:ln>
        </p:spPr>
        <p:txBody>
          <a:bodyPr wrap="square" lIns="635" tIns="635" rIns="635" bIns="635" rtlCol="0" anchor="ctr"/>
          <a:lstStyle/>
          <a:p>
            <a:pPr marL="0" indent="0" algn="ctr">
              <a:buNone/>
            </a:pPr>
            <a:r>
              <a:rPr lang="en-US" sz="1300" b="1" dirty="0">
                <a:solidFill>
                  <a:schemeClr val="tx1"/>
                </a:solidFill>
                <a:latin typeface="Times New Roman" panose="02020603050405020304" pitchFamily="18" charset="0"/>
                <a:cs typeface="Times New Roman" panose="02020603050405020304" pitchFamily="18" charset="0"/>
              </a:rPr>
              <a:t>Patient / Caregiver</a:t>
            </a:r>
            <a:endParaRPr lang="en-US" sz="1300" dirty="0">
              <a:latin typeface="Times New Roman" panose="02020603050405020304" pitchFamily="18" charset="0"/>
              <a:cs typeface="Times New Roman" panose="02020603050405020304" pitchFamily="18" charset="0"/>
            </a:endParaRPr>
          </a:p>
        </p:txBody>
      </p:sp>
      <p:sp>
        <p:nvSpPr>
          <p:cNvPr id="4" name="Arrow 1"/>
          <p:cNvSpPr/>
          <p:nvPr/>
        </p:nvSpPr>
        <p:spPr>
          <a:xfrm>
            <a:off x="2240280" y="1417320"/>
            <a:ext cx="411480" cy="0"/>
          </a:xfrm>
          <a:prstGeom prst="line">
            <a:avLst/>
          </a:prstGeom>
          <a:noFill/>
          <a:ln w="15875">
            <a:solidFill>
              <a:schemeClr val="tx1"/>
            </a:solidFill>
            <a:prstDash val="solid"/>
            <a:tailEnd type="triangle"/>
          </a:ln>
        </p:spPr>
      </p:sp>
      <p:sp>
        <p:nvSpPr>
          <p:cNvPr id="5" name="Block: React Frontend"/>
          <p:cNvSpPr txBox="1"/>
          <p:nvPr/>
        </p:nvSpPr>
        <p:spPr>
          <a:xfrm>
            <a:off x="2651760" y="1097280"/>
            <a:ext cx="1691640" cy="640080"/>
          </a:xfrm>
          <a:prstGeom prst="rect">
            <a:avLst/>
          </a:prstGeom>
          <a:solidFill>
            <a:schemeClr val="bg1"/>
          </a:solidFill>
          <a:ln w="15875">
            <a:solidFill>
              <a:schemeClr val="tx1"/>
            </a:solidFill>
          </a:ln>
        </p:spPr>
        <p:txBody>
          <a:bodyPr wrap="square" lIns="635" tIns="635" rIns="635" bIns="635" rtlCol="0" anchor="ctr"/>
          <a:lstStyle/>
          <a:p>
            <a:pPr marL="0" indent="0" algn="ctr">
              <a:buNone/>
            </a:pPr>
            <a:r>
              <a:rPr lang="en-US" sz="1300" b="1" dirty="0">
                <a:solidFill>
                  <a:schemeClr val="tx1"/>
                </a:solidFill>
                <a:latin typeface="Times New Roman" panose="02020603050405020304" pitchFamily="18" charset="0"/>
                <a:cs typeface="Times New Roman" panose="02020603050405020304" pitchFamily="18" charset="0"/>
              </a:rPr>
              <a:t>React Frontend</a:t>
            </a:r>
            <a:endParaRPr lang="en-US" sz="1300" dirty="0">
              <a:latin typeface="Times New Roman" panose="02020603050405020304" pitchFamily="18" charset="0"/>
              <a:cs typeface="Times New Roman" panose="02020603050405020304" pitchFamily="18" charset="0"/>
            </a:endParaRPr>
          </a:p>
        </p:txBody>
      </p:sp>
      <p:sp>
        <p:nvSpPr>
          <p:cNvPr id="6" name="Arrow 2"/>
          <p:cNvSpPr/>
          <p:nvPr/>
        </p:nvSpPr>
        <p:spPr>
          <a:xfrm>
            <a:off x="4343400" y="1417320"/>
            <a:ext cx="411480" cy="0"/>
          </a:xfrm>
          <a:prstGeom prst="line">
            <a:avLst/>
          </a:prstGeom>
          <a:noFill/>
          <a:ln w="15875">
            <a:solidFill>
              <a:schemeClr val="tx1"/>
            </a:solidFill>
            <a:prstDash val="solid"/>
            <a:tailEnd type="triangle"/>
          </a:ln>
        </p:spPr>
      </p:sp>
      <p:sp>
        <p:nvSpPr>
          <p:cNvPr id="7" name="Block: Node.js + Express Backend"/>
          <p:cNvSpPr txBox="1"/>
          <p:nvPr/>
        </p:nvSpPr>
        <p:spPr>
          <a:xfrm>
            <a:off x="4754880" y="1097280"/>
            <a:ext cx="1691640" cy="640080"/>
          </a:xfrm>
          <a:prstGeom prst="rect">
            <a:avLst/>
          </a:prstGeom>
          <a:solidFill>
            <a:schemeClr val="bg2"/>
          </a:solidFill>
          <a:ln w="15875">
            <a:solidFill>
              <a:schemeClr val="tx1"/>
            </a:solidFill>
          </a:ln>
        </p:spPr>
        <p:txBody>
          <a:bodyPr wrap="square" lIns="635" tIns="635" rIns="635" bIns="635" rtlCol="0" anchor="ctr"/>
          <a:lstStyle/>
          <a:p>
            <a:pPr marL="0" indent="0" algn="ctr">
              <a:buNone/>
            </a:pPr>
            <a:r>
              <a:rPr lang="en-US" sz="1300" b="1" dirty="0">
                <a:solidFill>
                  <a:schemeClr val="tx1"/>
                </a:solidFill>
                <a:latin typeface="Times New Roman" panose="02020603050405020304" pitchFamily="18" charset="0"/>
                <a:cs typeface="Times New Roman" panose="02020603050405020304" pitchFamily="18" charset="0"/>
              </a:rPr>
              <a:t>Node.js + Express Backend</a:t>
            </a:r>
            <a:endParaRPr lang="en-US" sz="1300" dirty="0">
              <a:latin typeface="Times New Roman" panose="02020603050405020304" pitchFamily="18" charset="0"/>
              <a:cs typeface="Times New Roman" panose="02020603050405020304" pitchFamily="18" charset="0"/>
            </a:endParaRPr>
          </a:p>
        </p:txBody>
      </p:sp>
      <p:sp>
        <p:nvSpPr>
          <p:cNvPr id="8" name="Arrow 3"/>
          <p:cNvSpPr/>
          <p:nvPr/>
        </p:nvSpPr>
        <p:spPr>
          <a:xfrm>
            <a:off x="6446520" y="1417320"/>
            <a:ext cx="411480" cy="0"/>
          </a:xfrm>
          <a:prstGeom prst="line">
            <a:avLst/>
          </a:prstGeom>
          <a:noFill/>
          <a:ln w="15875">
            <a:solidFill>
              <a:schemeClr val="tx1"/>
            </a:solidFill>
            <a:prstDash val="solid"/>
            <a:tailEnd type="triangle"/>
          </a:ln>
        </p:spPr>
      </p:sp>
      <p:sp>
        <p:nvSpPr>
          <p:cNvPr id="9" name="Block: MongoDB Database"/>
          <p:cNvSpPr txBox="1"/>
          <p:nvPr/>
        </p:nvSpPr>
        <p:spPr>
          <a:xfrm>
            <a:off x="6858000" y="1097280"/>
            <a:ext cx="1691640" cy="640080"/>
          </a:xfrm>
          <a:prstGeom prst="rect">
            <a:avLst/>
          </a:prstGeom>
          <a:solidFill>
            <a:schemeClr val="bg1"/>
          </a:solidFill>
          <a:ln w="15875">
            <a:solidFill>
              <a:schemeClr val="tx1"/>
            </a:solidFill>
          </a:ln>
        </p:spPr>
        <p:txBody>
          <a:bodyPr wrap="square" lIns="635" tIns="635" rIns="635" bIns="635" rtlCol="0" anchor="ctr"/>
          <a:lstStyle/>
          <a:p>
            <a:pPr marL="0" indent="0" algn="ctr">
              <a:buNone/>
            </a:pPr>
            <a:r>
              <a:rPr lang="en-US" sz="1300" b="1" dirty="0">
                <a:solidFill>
                  <a:schemeClr val="tx1"/>
                </a:solidFill>
                <a:latin typeface="Times New Roman" panose="02020603050405020304" pitchFamily="18" charset="0"/>
                <a:cs typeface="Times New Roman" panose="02020603050405020304" pitchFamily="18" charset="0"/>
              </a:rPr>
              <a:t>MongoDB Database</a:t>
            </a:r>
            <a:endParaRPr lang="en-US" sz="1300" dirty="0">
              <a:latin typeface="Times New Roman" panose="02020603050405020304" pitchFamily="18" charset="0"/>
              <a:cs typeface="Times New Roman" panose="02020603050405020304" pitchFamily="18" charset="0"/>
            </a:endParaRPr>
          </a:p>
        </p:txBody>
      </p:sp>
      <p:sp>
        <p:nvSpPr>
          <p:cNvPr id="10" name="Bus stem"/>
          <p:cNvSpPr/>
          <p:nvPr/>
        </p:nvSpPr>
        <p:spPr>
          <a:xfrm>
            <a:off x="5600700" y="1737360"/>
            <a:ext cx="0" cy="201168"/>
          </a:xfrm>
          <a:prstGeom prst="line">
            <a:avLst/>
          </a:prstGeom>
          <a:noFill/>
          <a:ln w="15875">
            <a:solidFill>
              <a:schemeClr val="tx1"/>
            </a:solidFill>
            <a:prstDash val="solid"/>
          </a:ln>
        </p:spPr>
      </p:sp>
      <p:sp>
        <p:nvSpPr>
          <p:cNvPr id="11" name="Bus"/>
          <p:cNvSpPr/>
          <p:nvPr/>
        </p:nvSpPr>
        <p:spPr>
          <a:xfrm>
            <a:off x="2788920" y="1938528"/>
            <a:ext cx="4754880" cy="0"/>
          </a:xfrm>
          <a:prstGeom prst="line">
            <a:avLst/>
          </a:prstGeom>
          <a:noFill/>
          <a:ln w="15875">
            <a:solidFill>
              <a:schemeClr val="tx1"/>
            </a:solidFill>
            <a:prstDash val="solid"/>
          </a:ln>
        </p:spPr>
      </p:sp>
      <p:sp>
        <p:nvSpPr>
          <p:cNvPr id="12" name="Stub 1"/>
          <p:cNvSpPr/>
          <p:nvPr/>
        </p:nvSpPr>
        <p:spPr>
          <a:xfrm>
            <a:off x="2788920" y="1938528"/>
            <a:ext cx="0" cy="210312"/>
          </a:xfrm>
          <a:prstGeom prst="line">
            <a:avLst/>
          </a:prstGeom>
          <a:noFill/>
          <a:ln w="15875">
            <a:solidFill>
              <a:schemeClr val="tx1"/>
            </a:solidFill>
            <a:prstDash val="solid"/>
            <a:tailEnd type="triangle"/>
          </a:ln>
        </p:spPr>
      </p:sp>
      <p:sp>
        <p:nvSpPr>
          <p:cNvPr id="13" name="Component: Node-Cron"/>
          <p:cNvSpPr txBox="1"/>
          <p:nvPr/>
        </p:nvSpPr>
        <p:spPr>
          <a:xfrm>
            <a:off x="1737360" y="2148840"/>
            <a:ext cx="2103120" cy="548640"/>
          </a:xfrm>
          <a:prstGeom prst="rect">
            <a:avLst/>
          </a:prstGeom>
          <a:solidFill>
            <a:schemeClr val="bg1"/>
          </a:solidFill>
          <a:ln w="15875">
            <a:solidFill>
              <a:schemeClr val="tx1"/>
            </a:solidFill>
          </a:ln>
        </p:spPr>
        <p:txBody>
          <a:bodyPr wrap="square" lIns="635" tIns="635" rIns="635" bIns="635" rtlCol="0" anchor="ctr"/>
          <a:lstStyle/>
          <a:p>
            <a:pPr marL="0" indent="0" algn="ctr">
              <a:buNone/>
            </a:pPr>
            <a:r>
              <a:rPr lang="en-US" sz="1200" b="1" dirty="0">
                <a:solidFill>
                  <a:schemeClr val="tx1"/>
                </a:solidFill>
                <a:latin typeface="Times New Roman" panose="02020603050405020304" pitchFamily="18" charset="0"/>
                <a:cs typeface="Times New Roman" panose="02020603050405020304" pitchFamily="18" charset="0"/>
              </a:rPr>
              <a:t>Node-Cron</a:t>
            </a:r>
            <a:endParaRPr lang="en-US" sz="1200" dirty="0">
              <a:latin typeface="Times New Roman" panose="02020603050405020304" pitchFamily="18" charset="0"/>
              <a:cs typeface="Times New Roman" panose="02020603050405020304" pitchFamily="18" charset="0"/>
            </a:endParaRPr>
          </a:p>
          <a:p>
            <a:pPr marL="0" indent="0" algn="ctr">
              <a:buNone/>
            </a:pPr>
            <a:r>
              <a:rPr lang="en-US" sz="1000" dirty="0">
                <a:solidFill>
                  <a:schemeClr val="tx2"/>
                </a:solidFill>
                <a:latin typeface="Times New Roman" panose="02020603050405020304" pitchFamily="18" charset="0"/>
                <a:cs typeface="Times New Roman" panose="02020603050405020304" pitchFamily="18" charset="0"/>
              </a:rPr>
              <a:t>scheduled checks</a:t>
            </a:r>
            <a:endParaRPr lang="en-US" sz="1200" dirty="0">
              <a:latin typeface="Times New Roman" panose="02020603050405020304" pitchFamily="18" charset="0"/>
              <a:cs typeface="Times New Roman" panose="02020603050405020304" pitchFamily="18" charset="0"/>
            </a:endParaRPr>
          </a:p>
        </p:txBody>
      </p:sp>
      <p:sp>
        <p:nvSpPr>
          <p:cNvPr id="14" name="Stub 2"/>
          <p:cNvSpPr/>
          <p:nvPr/>
        </p:nvSpPr>
        <p:spPr>
          <a:xfrm>
            <a:off x="5166360" y="1938528"/>
            <a:ext cx="0" cy="210312"/>
          </a:xfrm>
          <a:prstGeom prst="line">
            <a:avLst/>
          </a:prstGeom>
          <a:noFill/>
          <a:ln w="15875">
            <a:solidFill>
              <a:schemeClr val="tx1"/>
            </a:solidFill>
            <a:prstDash val="solid"/>
            <a:tailEnd type="triangle"/>
          </a:ln>
        </p:spPr>
      </p:sp>
      <p:sp>
        <p:nvSpPr>
          <p:cNvPr id="15" name="Component: Notification service"/>
          <p:cNvSpPr txBox="1"/>
          <p:nvPr/>
        </p:nvSpPr>
        <p:spPr>
          <a:xfrm>
            <a:off x="4114800" y="2148840"/>
            <a:ext cx="2103120" cy="548640"/>
          </a:xfrm>
          <a:prstGeom prst="rect">
            <a:avLst/>
          </a:prstGeom>
          <a:solidFill>
            <a:schemeClr val="bg1"/>
          </a:solidFill>
          <a:ln w="15875">
            <a:solidFill>
              <a:schemeClr val="tx1"/>
            </a:solidFill>
          </a:ln>
        </p:spPr>
        <p:txBody>
          <a:bodyPr wrap="square" lIns="635" tIns="635" rIns="635" bIns="635" rtlCol="0" anchor="ctr"/>
          <a:lstStyle/>
          <a:p>
            <a:pPr marL="0" indent="0" algn="ctr">
              <a:buNone/>
            </a:pPr>
            <a:r>
              <a:rPr lang="en-US" sz="1200" b="1" dirty="0">
                <a:solidFill>
                  <a:schemeClr val="tx1"/>
                </a:solidFill>
                <a:latin typeface="Times New Roman" panose="02020603050405020304" pitchFamily="18" charset="0"/>
                <a:cs typeface="Times New Roman" panose="02020603050405020304" pitchFamily="18" charset="0"/>
              </a:rPr>
              <a:t>Notification service</a:t>
            </a:r>
            <a:endParaRPr lang="en-US" sz="1200" dirty="0">
              <a:latin typeface="Times New Roman" panose="02020603050405020304" pitchFamily="18" charset="0"/>
              <a:cs typeface="Times New Roman" panose="02020603050405020304" pitchFamily="18" charset="0"/>
            </a:endParaRPr>
          </a:p>
          <a:p>
            <a:pPr marL="0" indent="0" algn="ctr">
              <a:buNone/>
            </a:pPr>
            <a:r>
              <a:rPr lang="en-US" sz="1000" dirty="0">
                <a:solidFill>
                  <a:schemeClr val="tx2"/>
                </a:solidFill>
                <a:latin typeface="Times New Roman" panose="02020603050405020304" pitchFamily="18" charset="0"/>
                <a:cs typeface="Times New Roman" panose="02020603050405020304" pitchFamily="18" charset="0"/>
              </a:rPr>
              <a:t>Twilio SMS · Nodemailer email</a:t>
            </a:r>
            <a:endParaRPr lang="en-US" sz="1200" dirty="0">
              <a:latin typeface="Times New Roman" panose="02020603050405020304" pitchFamily="18" charset="0"/>
              <a:cs typeface="Times New Roman" panose="02020603050405020304" pitchFamily="18" charset="0"/>
            </a:endParaRPr>
          </a:p>
        </p:txBody>
      </p:sp>
      <p:sp>
        <p:nvSpPr>
          <p:cNvPr id="16" name="Stub 3"/>
          <p:cNvSpPr/>
          <p:nvPr/>
        </p:nvSpPr>
        <p:spPr>
          <a:xfrm>
            <a:off x="7543800" y="1938528"/>
            <a:ext cx="0" cy="210312"/>
          </a:xfrm>
          <a:prstGeom prst="line">
            <a:avLst/>
          </a:prstGeom>
          <a:noFill/>
          <a:ln w="15875">
            <a:solidFill>
              <a:schemeClr val="tx1"/>
            </a:solidFill>
            <a:prstDash val="solid"/>
            <a:tailEnd type="triangle"/>
          </a:ln>
        </p:spPr>
      </p:sp>
      <p:sp>
        <p:nvSpPr>
          <p:cNvPr id="17" name="Component: Schedule &amp; adherence records"/>
          <p:cNvSpPr txBox="1"/>
          <p:nvPr/>
        </p:nvSpPr>
        <p:spPr>
          <a:xfrm>
            <a:off x="6492240" y="2148840"/>
            <a:ext cx="2103120" cy="548640"/>
          </a:xfrm>
          <a:prstGeom prst="rect">
            <a:avLst/>
          </a:prstGeom>
          <a:solidFill>
            <a:schemeClr val="bg1"/>
          </a:solidFill>
          <a:ln w="15875">
            <a:solidFill>
              <a:schemeClr val="tx1"/>
            </a:solidFill>
          </a:ln>
        </p:spPr>
        <p:txBody>
          <a:bodyPr wrap="square" lIns="635" tIns="635" rIns="635" bIns="635" rtlCol="0" anchor="ctr"/>
          <a:lstStyle/>
          <a:p>
            <a:pPr marL="0" indent="0" algn="ctr">
              <a:buNone/>
            </a:pPr>
            <a:r>
              <a:rPr lang="en-US" sz="1200" b="1" dirty="0">
                <a:solidFill>
                  <a:schemeClr val="tx1"/>
                </a:solidFill>
                <a:latin typeface="Times New Roman" panose="02020603050405020304" pitchFamily="18" charset="0"/>
                <a:cs typeface="Times New Roman" panose="02020603050405020304" pitchFamily="18" charset="0"/>
              </a:rPr>
              <a:t>Schedule &amp; adherence records</a:t>
            </a:r>
            <a:endParaRPr lang="en-US" sz="1200" dirty="0">
              <a:latin typeface="Times New Roman" panose="02020603050405020304" pitchFamily="18" charset="0"/>
              <a:cs typeface="Times New Roman" panose="02020603050405020304" pitchFamily="18" charset="0"/>
            </a:endParaRPr>
          </a:p>
          <a:p>
            <a:pPr marL="0" indent="0" algn="ctr">
              <a:buNone/>
            </a:pPr>
            <a:r>
              <a:rPr lang="en-US" sz="1000" dirty="0">
                <a:solidFill>
                  <a:schemeClr val="tx2"/>
                </a:solidFill>
                <a:latin typeface="Times New Roman" panose="02020603050405020304" pitchFamily="18" charset="0"/>
                <a:cs typeface="Times New Roman" panose="02020603050405020304" pitchFamily="18" charset="0"/>
              </a:rPr>
              <a:t>stored in MongoDB</a:t>
            </a:r>
            <a:endParaRPr lang="en-US" sz="1200" dirty="0">
              <a:latin typeface="Times New Roman" panose="02020603050405020304" pitchFamily="18" charset="0"/>
              <a:cs typeface="Times New Roman" panose="02020603050405020304" pitchFamily="18" charset="0"/>
            </a:endParaRPr>
          </a:p>
        </p:txBody>
      </p:sp>
      <p:sp>
        <p:nvSpPr>
          <p:cNvPr id="18" name="Text 16"/>
          <p:cNvSpPr txBox="1"/>
          <p:nvPr/>
        </p:nvSpPr>
        <p:spPr>
          <a:xfrm>
            <a:off x="548640" y="3017520"/>
            <a:ext cx="1371600" cy="566928"/>
          </a:xfrm>
          <a:prstGeom prst="rect">
            <a:avLst/>
          </a:prstGeom>
          <a:noFill/>
          <a:ln/>
        </p:spPr>
        <p:txBody>
          <a:bodyPr wrap="square" lIns="0" tIns="0" rIns="0" bIns="0" rtlCol="0" anchor="ctr"/>
          <a:lstStyle/>
          <a:p>
            <a:pPr marL="0" indent="0">
              <a:buNone/>
            </a:pPr>
            <a:r>
              <a:rPr lang="en-US" sz="1200" b="1" dirty="0">
                <a:solidFill>
                  <a:schemeClr val="accent4"/>
                </a:solidFill>
                <a:latin typeface="Times New Roman" panose="02020603050405020304" pitchFamily="18" charset="0"/>
                <a:cs typeface="Times New Roman" panose="02020603050405020304" pitchFamily="18" charset="0"/>
              </a:rPr>
              <a:t>Reminder flow</a:t>
            </a:r>
            <a:endParaRPr lang="en-US" sz="1200" dirty="0">
              <a:latin typeface="Times New Roman" panose="02020603050405020304" pitchFamily="18" charset="0"/>
              <a:cs typeface="Times New Roman" panose="02020603050405020304" pitchFamily="18" charset="0"/>
            </a:endParaRPr>
          </a:p>
        </p:txBody>
      </p:sp>
      <p:sp>
        <p:nvSpPr>
          <p:cNvPr id="19" name="Reminder flow step 1"/>
          <p:cNvSpPr txBox="1"/>
          <p:nvPr/>
        </p:nvSpPr>
        <p:spPr>
          <a:xfrm>
            <a:off x="1965960" y="3017520"/>
            <a:ext cx="1188720" cy="566928"/>
          </a:xfrm>
          <a:prstGeom prst="rect">
            <a:avLst/>
          </a:prstGeom>
          <a:solidFill>
            <a:schemeClr val="bg1"/>
          </a:solidFill>
          <a:ln w="15875">
            <a:solidFill>
              <a:schemeClr val="tx1"/>
            </a:solidFill>
          </a:ln>
        </p:spPr>
        <p:txBody>
          <a:bodyPr wrap="square" lIns="635" tIns="635" rIns="635" bIns="635" rtlCol="0" anchor="ctr"/>
          <a:lstStyle/>
          <a:p>
            <a:pPr marL="0" indent="0" algn="ctr">
              <a:buNone/>
            </a:pPr>
            <a:r>
              <a:rPr lang="en-US" sz="1000" dirty="0">
                <a:solidFill>
                  <a:schemeClr val="tx1"/>
                </a:solidFill>
                <a:latin typeface="Times New Roman" panose="02020603050405020304" pitchFamily="18" charset="0"/>
                <a:cs typeface="Times New Roman" panose="02020603050405020304" pitchFamily="18" charset="0"/>
              </a:rPr>
              <a:t>Node-Cron runs a check</a:t>
            </a:r>
            <a:endParaRPr lang="en-US" sz="1000" dirty="0">
              <a:latin typeface="Times New Roman" panose="02020603050405020304" pitchFamily="18" charset="0"/>
              <a:cs typeface="Times New Roman" panose="02020603050405020304" pitchFamily="18" charset="0"/>
            </a:endParaRPr>
          </a:p>
        </p:txBody>
      </p:sp>
      <p:sp>
        <p:nvSpPr>
          <p:cNvPr id="20" name="Reminder flow arrow 1"/>
          <p:cNvSpPr/>
          <p:nvPr/>
        </p:nvSpPr>
        <p:spPr>
          <a:xfrm>
            <a:off x="3154680" y="3300984"/>
            <a:ext cx="182880" cy="0"/>
          </a:xfrm>
          <a:prstGeom prst="line">
            <a:avLst/>
          </a:prstGeom>
          <a:noFill/>
          <a:ln w="15875">
            <a:solidFill>
              <a:schemeClr val="tx1"/>
            </a:solidFill>
            <a:prstDash val="solid"/>
            <a:tailEnd type="triangle"/>
          </a:ln>
        </p:spPr>
      </p:sp>
      <p:sp>
        <p:nvSpPr>
          <p:cNvPr id="21" name="Reminder flow step 2"/>
          <p:cNvSpPr txBox="1"/>
          <p:nvPr/>
        </p:nvSpPr>
        <p:spPr>
          <a:xfrm>
            <a:off x="3337560" y="3017520"/>
            <a:ext cx="1188720" cy="566928"/>
          </a:xfrm>
          <a:prstGeom prst="rect">
            <a:avLst/>
          </a:prstGeom>
          <a:solidFill>
            <a:schemeClr val="bg1"/>
          </a:solidFill>
          <a:ln w="15875">
            <a:solidFill>
              <a:schemeClr val="tx1"/>
            </a:solidFill>
          </a:ln>
        </p:spPr>
        <p:txBody>
          <a:bodyPr wrap="square" lIns="635" tIns="635" rIns="635" bIns="635" rtlCol="0" anchor="ctr"/>
          <a:lstStyle/>
          <a:p>
            <a:pPr marL="0" indent="0" algn="ctr">
              <a:buNone/>
            </a:pPr>
            <a:r>
              <a:rPr lang="en-US" sz="1000" dirty="0">
                <a:solidFill>
                  <a:schemeClr val="tx1"/>
                </a:solidFill>
                <a:latin typeface="Times New Roman" panose="02020603050405020304" pitchFamily="18" charset="0"/>
                <a:cs typeface="Times New Roman" panose="02020603050405020304" pitchFamily="18" charset="0"/>
              </a:rPr>
              <a:t>Due doses found</a:t>
            </a:r>
            <a:endParaRPr lang="en-US" sz="1000" dirty="0">
              <a:latin typeface="Times New Roman" panose="02020603050405020304" pitchFamily="18" charset="0"/>
              <a:cs typeface="Times New Roman" panose="02020603050405020304" pitchFamily="18" charset="0"/>
            </a:endParaRPr>
          </a:p>
        </p:txBody>
      </p:sp>
      <p:sp>
        <p:nvSpPr>
          <p:cNvPr id="22" name="Reminder flow arrow 2"/>
          <p:cNvSpPr/>
          <p:nvPr/>
        </p:nvSpPr>
        <p:spPr>
          <a:xfrm>
            <a:off x="4526280" y="3300984"/>
            <a:ext cx="182880" cy="0"/>
          </a:xfrm>
          <a:prstGeom prst="line">
            <a:avLst/>
          </a:prstGeom>
          <a:noFill/>
          <a:ln w="15875">
            <a:solidFill>
              <a:schemeClr val="tx1"/>
            </a:solidFill>
            <a:prstDash val="solid"/>
            <a:tailEnd type="triangle"/>
          </a:ln>
        </p:spPr>
      </p:sp>
      <p:sp>
        <p:nvSpPr>
          <p:cNvPr id="23" name="Reminder flow step 3"/>
          <p:cNvSpPr txBox="1"/>
          <p:nvPr/>
        </p:nvSpPr>
        <p:spPr>
          <a:xfrm>
            <a:off x="4709160" y="3017520"/>
            <a:ext cx="1188720" cy="566928"/>
          </a:xfrm>
          <a:prstGeom prst="rect">
            <a:avLst/>
          </a:prstGeom>
          <a:solidFill>
            <a:schemeClr val="bg1"/>
          </a:solidFill>
          <a:ln w="15875">
            <a:solidFill>
              <a:schemeClr val="tx1"/>
            </a:solidFill>
          </a:ln>
        </p:spPr>
        <p:txBody>
          <a:bodyPr wrap="square" lIns="635" tIns="635" rIns="635" bIns="635" rtlCol="0" anchor="ctr"/>
          <a:lstStyle/>
          <a:p>
            <a:pPr marL="0" indent="0" algn="ctr">
              <a:buNone/>
            </a:pPr>
            <a:r>
              <a:rPr lang="en-US" sz="1000" dirty="0">
                <a:solidFill>
                  <a:schemeClr val="tx1"/>
                </a:solidFill>
                <a:latin typeface="Times New Roman" panose="02020603050405020304" pitchFamily="18" charset="0"/>
                <a:cs typeface="Times New Roman" panose="02020603050405020304" pitchFamily="18" charset="0"/>
              </a:rPr>
              <a:t>Reminder sent to patient</a:t>
            </a:r>
            <a:endParaRPr lang="en-US" sz="1000" dirty="0">
              <a:latin typeface="Times New Roman" panose="02020603050405020304" pitchFamily="18" charset="0"/>
              <a:cs typeface="Times New Roman" panose="02020603050405020304" pitchFamily="18" charset="0"/>
            </a:endParaRPr>
          </a:p>
        </p:txBody>
      </p:sp>
      <p:sp>
        <p:nvSpPr>
          <p:cNvPr id="24" name="Reminder flow arrow 3"/>
          <p:cNvSpPr/>
          <p:nvPr/>
        </p:nvSpPr>
        <p:spPr>
          <a:xfrm>
            <a:off x="5897880" y="3300984"/>
            <a:ext cx="182880" cy="0"/>
          </a:xfrm>
          <a:prstGeom prst="line">
            <a:avLst/>
          </a:prstGeom>
          <a:noFill/>
          <a:ln w="15875">
            <a:solidFill>
              <a:schemeClr val="tx1"/>
            </a:solidFill>
            <a:prstDash val="solid"/>
            <a:tailEnd type="triangle"/>
          </a:ln>
        </p:spPr>
      </p:sp>
      <p:sp>
        <p:nvSpPr>
          <p:cNvPr id="25" name="Reminder flow step 4"/>
          <p:cNvSpPr txBox="1"/>
          <p:nvPr/>
        </p:nvSpPr>
        <p:spPr>
          <a:xfrm>
            <a:off x="6080760" y="3017520"/>
            <a:ext cx="1188720" cy="566928"/>
          </a:xfrm>
          <a:prstGeom prst="rect">
            <a:avLst/>
          </a:prstGeom>
          <a:solidFill>
            <a:schemeClr val="bg1"/>
          </a:solidFill>
          <a:ln w="15875">
            <a:solidFill>
              <a:schemeClr val="tx1"/>
            </a:solidFill>
          </a:ln>
        </p:spPr>
        <p:txBody>
          <a:bodyPr wrap="square" lIns="635" tIns="635" rIns="635" bIns="635" rtlCol="0" anchor="ctr"/>
          <a:lstStyle/>
          <a:p>
            <a:pPr marL="0" indent="0" algn="ctr">
              <a:buNone/>
            </a:pPr>
            <a:r>
              <a:rPr lang="en-US" sz="1000" dirty="0">
                <a:solidFill>
                  <a:schemeClr val="tx1"/>
                </a:solidFill>
                <a:latin typeface="Times New Roman" panose="02020603050405020304" pitchFamily="18" charset="0"/>
                <a:cs typeface="Times New Roman" panose="02020603050405020304" pitchFamily="18" charset="0"/>
              </a:rPr>
              <a:t>Patient confirms dose</a:t>
            </a:r>
            <a:endParaRPr lang="en-US" sz="1000" dirty="0">
              <a:latin typeface="Times New Roman" panose="02020603050405020304" pitchFamily="18" charset="0"/>
              <a:cs typeface="Times New Roman" panose="02020603050405020304" pitchFamily="18" charset="0"/>
            </a:endParaRPr>
          </a:p>
        </p:txBody>
      </p:sp>
      <p:sp>
        <p:nvSpPr>
          <p:cNvPr id="26" name="Reminder flow arrow 4"/>
          <p:cNvSpPr/>
          <p:nvPr/>
        </p:nvSpPr>
        <p:spPr>
          <a:xfrm>
            <a:off x="7269480" y="3300984"/>
            <a:ext cx="182880" cy="0"/>
          </a:xfrm>
          <a:prstGeom prst="line">
            <a:avLst/>
          </a:prstGeom>
          <a:noFill/>
          <a:ln w="15875">
            <a:solidFill>
              <a:schemeClr val="tx1"/>
            </a:solidFill>
            <a:prstDash val="solid"/>
            <a:tailEnd type="triangle"/>
          </a:ln>
        </p:spPr>
      </p:sp>
      <p:sp>
        <p:nvSpPr>
          <p:cNvPr id="27" name="Reminder flow step 5"/>
          <p:cNvSpPr txBox="1"/>
          <p:nvPr/>
        </p:nvSpPr>
        <p:spPr>
          <a:xfrm>
            <a:off x="7452360" y="3017520"/>
            <a:ext cx="1188720" cy="566928"/>
          </a:xfrm>
          <a:prstGeom prst="rect">
            <a:avLst/>
          </a:prstGeom>
          <a:solidFill>
            <a:schemeClr val="bg1"/>
          </a:solidFill>
          <a:ln w="15875">
            <a:solidFill>
              <a:schemeClr val="tx1"/>
            </a:solidFill>
          </a:ln>
        </p:spPr>
        <p:txBody>
          <a:bodyPr wrap="square" lIns="635" tIns="635" rIns="635" bIns="635" rtlCol="0" anchor="ctr"/>
          <a:lstStyle/>
          <a:p>
            <a:pPr marL="0" indent="0" algn="ctr">
              <a:buNone/>
            </a:pPr>
            <a:r>
              <a:rPr lang="en-US" sz="1000" dirty="0">
                <a:solidFill>
                  <a:schemeClr val="tx1"/>
                </a:solidFill>
                <a:latin typeface="Times New Roman" panose="02020603050405020304" pitchFamily="18" charset="0"/>
                <a:cs typeface="Times New Roman" panose="02020603050405020304" pitchFamily="18" charset="0"/>
              </a:rPr>
              <a:t>Adherence record saved</a:t>
            </a:r>
            <a:endParaRPr lang="en-US" sz="1000" dirty="0">
              <a:latin typeface="Times New Roman" panose="02020603050405020304" pitchFamily="18" charset="0"/>
              <a:cs typeface="Times New Roman" panose="02020603050405020304" pitchFamily="18" charset="0"/>
            </a:endParaRPr>
          </a:p>
        </p:txBody>
      </p:sp>
      <p:sp>
        <p:nvSpPr>
          <p:cNvPr id="28" name="Text 26"/>
          <p:cNvSpPr txBox="1"/>
          <p:nvPr/>
        </p:nvSpPr>
        <p:spPr>
          <a:xfrm>
            <a:off x="548640" y="3931920"/>
            <a:ext cx="1371600" cy="566928"/>
          </a:xfrm>
          <a:prstGeom prst="rect">
            <a:avLst/>
          </a:prstGeom>
          <a:noFill/>
          <a:ln/>
        </p:spPr>
        <p:txBody>
          <a:bodyPr wrap="square" lIns="0" tIns="0" rIns="0" bIns="0" rtlCol="0" anchor="ctr"/>
          <a:lstStyle/>
          <a:p>
            <a:pPr marL="0" indent="0">
              <a:buNone/>
            </a:pPr>
            <a:r>
              <a:rPr lang="en-US" sz="1200" b="1" dirty="0">
                <a:solidFill>
                  <a:schemeClr val="accent4"/>
                </a:solidFill>
                <a:latin typeface="Times New Roman" panose="02020603050405020304" pitchFamily="18" charset="0"/>
                <a:cs typeface="Times New Roman" panose="02020603050405020304" pitchFamily="18" charset="0"/>
              </a:rPr>
              <a:t>Missed-dose escalation</a:t>
            </a:r>
            <a:endParaRPr lang="en-US" sz="1200" dirty="0">
              <a:latin typeface="Times New Roman" panose="02020603050405020304" pitchFamily="18" charset="0"/>
              <a:cs typeface="Times New Roman" panose="02020603050405020304" pitchFamily="18" charset="0"/>
            </a:endParaRPr>
          </a:p>
        </p:txBody>
      </p:sp>
      <p:sp>
        <p:nvSpPr>
          <p:cNvPr id="29" name="Missed-dose escalation step 1"/>
          <p:cNvSpPr txBox="1"/>
          <p:nvPr/>
        </p:nvSpPr>
        <p:spPr>
          <a:xfrm>
            <a:off x="1965960" y="3931920"/>
            <a:ext cx="1188720" cy="566928"/>
          </a:xfrm>
          <a:prstGeom prst="rect">
            <a:avLst/>
          </a:prstGeom>
          <a:solidFill>
            <a:schemeClr val="bg1"/>
          </a:solidFill>
          <a:ln w="15875">
            <a:solidFill>
              <a:schemeClr val="tx1"/>
            </a:solidFill>
          </a:ln>
        </p:spPr>
        <p:txBody>
          <a:bodyPr wrap="square" lIns="635" tIns="635" rIns="635" bIns="635" rtlCol="0" anchor="ctr"/>
          <a:lstStyle/>
          <a:p>
            <a:pPr marL="0" indent="0" algn="ctr">
              <a:buNone/>
            </a:pPr>
            <a:r>
              <a:rPr lang="en-US" sz="1000" dirty="0">
                <a:solidFill>
                  <a:schemeClr val="tx1"/>
                </a:solidFill>
                <a:latin typeface="Times New Roman" panose="02020603050405020304" pitchFamily="18" charset="0"/>
                <a:cs typeface="Times New Roman" panose="02020603050405020304" pitchFamily="18" charset="0"/>
              </a:rPr>
              <a:t>Dose unconfirmed</a:t>
            </a:r>
            <a:endParaRPr lang="en-US" sz="1000" dirty="0">
              <a:latin typeface="Times New Roman" panose="02020603050405020304" pitchFamily="18" charset="0"/>
              <a:cs typeface="Times New Roman" panose="02020603050405020304" pitchFamily="18" charset="0"/>
            </a:endParaRPr>
          </a:p>
        </p:txBody>
      </p:sp>
      <p:sp>
        <p:nvSpPr>
          <p:cNvPr id="30" name="Missed-dose escalation arrow 1"/>
          <p:cNvSpPr/>
          <p:nvPr/>
        </p:nvSpPr>
        <p:spPr>
          <a:xfrm>
            <a:off x="3154680" y="4215384"/>
            <a:ext cx="182880" cy="0"/>
          </a:xfrm>
          <a:prstGeom prst="line">
            <a:avLst/>
          </a:prstGeom>
          <a:noFill/>
          <a:ln w="15875">
            <a:solidFill>
              <a:schemeClr val="tx1"/>
            </a:solidFill>
            <a:prstDash val="solid"/>
            <a:tailEnd type="triangle"/>
          </a:ln>
        </p:spPr>
      </p:sp>
      <p:sp>
        <p:nvSpPr>
          <p:cNvPr id="31" name="Missed-dose escalation step 2"/>
          <p:cNvSpPr txBox="1"/>
          <p:nvPr/>
        </p:nvSpPr>
        <p:spPr>
          <a:xfrm>
            <a:off x="3337560" y="3931920"/>
            <a:ext cx="1188720" cy="566928"/>
          </a:xfrm>
          <a:prstGeom prst="rect">
            <a:avLst/>
          </a:prstGeom>
          <a:solidFill>
            <a:schemeClr val="bg1"/>
          </a:solidFill>
          <a:ln w="15875">
            <a:solidFill>
              <a:schemeClr val="tx1"/>
            </a:solidFill>
          </a:ln>
        </p:spPr>
        <p:txBody>
          <a:bodyPr wrap="square" lIns="635" tIns="635" rIns="635" bIns="635" rtlCol="0" anchor="ctr"/>
          <a:lstStyle/>
          <a:p>
            <a:pPr marL="0" indent="0" algn="ctr">
              <a:buNone/>
            </a:pPr>
            <a:r>
              <a:rPr lang="en-US" sz="1000" dirty="0">
                <a:solidFill>
                  <a:schemeClr val="tx1"/>
                </a:solidFill>
                <a:latin typeface="Times New Roman" panose="02020603050405020304" pitchFamily="18" charset="0"/>
                <a:cs typeface="Times New Roman" panose="02020603050405020304" pitchFamily="18" charset="0"/>
              </a:rPr>
              <a:t>Grace window ends</a:t>
            </a:r>
            <a:endParaRPr lang="en-US" sz="1000" dirty="0">
              <a:latin typeface="Times New Roman" panose="02020603050405020304" pitchFamily="18" charset="0"/>
              <a:cs typeface="Times New Roman" panose="02020603050405020304" pitchFamily="18" charset="0"/>
            </a:endParaRPr>
          </a:p>
        </p:txBody>
      </p:sp>
      <p:sp>
        <p:nvSpPr>
          <p:cNvPr id="32" name="Missed-dose escalation arrow 2"/>
          <p:cNvSpPr/>
          <p:nvPr/>
        </p:nvSpPr>
        <p:spPr>
          <a:xfrm>
            <a:off x="4526280" y="4215384"/>
            <a:ext cx="182880" cy="0"/>
          </a:xfrm>
          <a:prstGeom prst="line">
            <a:avLst/>
          </a:prstGeom>
          <a:noFill/>
          <a:ln w="15875">
            <a:solidFill>
              <a:schemeClr val="tx1"/>
            </a:solidFill>
            <a:prstDash val="solid"/>
            <a:tailEnd type="triangle"/>
          </a:ln>
        </p:spPr>
      </p:sp>
      <p:sp>
        <p:nvSpPr>
          <p:cNvPr id="33" name="Missed-dose escalation step 3"/>
          <p:cNvSpPr txBox="1"/>
          <p:nvPr/>
        </p:nvSpPr>
        <p:spPr>
          <a:xfrm>
            <a:off x="4709160" y="3931920"/>
            <a:ext cx="1188720" cy="566928"/>
          </a:xfrm>
          <a:prstGeom prst="rect">
            <a:avLst/>
          </a:prstGeom>
          <a:solidFill>
            <a:schemeClr val="bg1"/>
          </a:solidFill>
          <a:ln w="15875">
            <a:solidFill>
              <a:schemeClr val="tx1"/>
            </a:solidFill>
          </a:ln>
        </p:spPr>
        <p:txBody>
          <a:bodyPr wrap="square" lIns="635" tIns="635" rIns="635" bIns="635" rtlCol="0" anchor="ctr"/>
          <a:lstStyle/>
          <a:p>
            <a:pPr marL="0" indent="0" algn="ctr">
              <a:buNone/>
            </a:pPr>
            <a:r>
              <a:rPr lang="en-US" sz="1000" dirty="0">
                <a:solidFill>
                  <a:schemeClr val="tx1"/>
                </a:solidFill>
                <a:latin typeface="Times New Roman" panose="02020603050405020304" pitchFamily="18" charset="0"/>
                <a:cs typeface="Times New Roman" panose="02020603050405020304" pitchFamily="18" charset="0"/>
              </a:rPr>
              <a:t>Caregiver consent checked</a:t>
            </a:r>
            <a:endParaRPr lang="en-US" sz="1000" dirty="0">
              <a:latin typeface="Times New Roman" panose="02020603050405020304" pitchFamily="18" charset="0"/>
              <a:cs typeface="Times New Roman" panose="02020603050405020304" pitchFamily="18" charset="0"/>
            </a:endParaRPr>
          </a:p>
        </p:txBody>
      </p:sp>
      <p:sp>
        <p:nvSpPr>
          <p:cNvPr id="34" name="Missed-dose escalation arrow 3"/>
          <p:cNvSpPr/>
          <p:nvPr/>
        </p:nvSpPr>
        <p:spPr>
          <a:xfrm>
            <a:off x="5897880" y="4215384"/>
            <a:ext cx="182880" cy="0"/>
          </a:xfrm>
          <a:prstGeom prst="line">
            <a:avLst/>
          </a:prstGeom>
          <a:noFill/>
          <a:ln w="15875">
            <a:solidFill>
              <a:schemeClr val="tx1"/>
            </a:solidFill>
            <a:prstDash val="solid"/>
            <a:tailEnd type="triangle"/>
          </a:ln>
        </p:spPr>
      </p:sp>
      <p:sp>
        <p:nvSpPr>
          <p:cNvPr id="35" name="Missed-dose escalation step 4"/>
          <p:cNvSpPr txBox="1"/>
          <p:nvPr/>
        </p:nvSpPr>
        <p:spPr>
          <a:xfrm>
            <a:off x="6080760" y="3931920"/>
            <a:ext cx="1188720" cy="566928"/>
          </a:xfrm>
          <a:prstGeom prst="rect">
            <a:avLst/>
          </a:prstGeom>
          <a:solidFill>
            <a:schemeClr val="bg1"/>
          </a:solidFill>
          <a:ln w="15875">
            <a:solidFill>
              <a:schemeClr val="tx1"/>
            </a:solidFill>
          </a:ln>
        </p:spPr>
        <p:txBody>
          <a:bodyPr wrap="square" lIns="635" tIns="635" rIns="635" bIns="635" rtlCol="0" anchor="ctr"/>
          <a:lstStyle/>
          <a:p>
            <a:pPr marL="0" indent="0" algn="ctr">
              <a:buNone/>
            </a:pPr>
            <a:r>
              <a:rPr lang="en-US" sz="1000" dirty="0">
                <a:solidFill>
                  <a:schemeClr val="tx1"/>
                </a:solidFill>
                <a:latin typeface="Times New Roman" panose="02020603050405020304" pitchFamily="18" charset="0"/>
                <a:cs typeface="Times New Roman" panose="02020603050405020304" pitchFamily="18" charset="0"/>
              </a:rPr>
              <a:t>SMS / email to caregiver</a:t>
            </a:r>
            <a:endParaRPr lang="en-US" sz="1000" dirty="0">
              <a:latin typeface="Times New Roman" panose="02020603050405020304" pitchFamily="18" charset="0"/>
              <a:cs typeface="Times New Roman" panose="02020603050405020304" pitchFamily="18" charset="0"/>
            </a:endParaRPr>
          </a:p>
        </p:txBody>
      </p:sp>
      <p:sp>
        <p:nvSpPr>
          <p:cNvPr id="36" name="Missed-dose escalation arrow 4"/>
          <p:cNvSpPr/>
          <p:nvPr/>
        </p:nvSpPr>
        <p:spPr>
          <a:xfrm>
            <a:off x="7269480" y="4215384"/>
            <a:ext cx="182880" cy="0"/>
          </a:xfrm>
          <a:prstGeom prst="line">
            <a:avLst/>
          </a:prstGeom>
          <a:noFill/>
          <a:ln w="15875">
            <a:solidFill>
              <a:schemeClr val="tx1"/>
            </a:solidFill>
            <a:prstDash val="solid"/>
            <a:tailEnd type="triangle"/>
          </a:ln>
        </p:spPr>
      </p:sp>
      <p:sp>
        <p:nvSpPr>
          <p:cNvPr id="37" name="Missed-dose escalation step 5"/>
          <p:cNvSpPr txBox="1"/>
          <p:nvPr/>
        </p:nvSpPr>
        <p:spPr>
          <a:xfrm>
            <a:off x="7452360" y="3931920"/>
            <a:ext cx="1188720" cy="566928"/>
          </a:xfrm>
          <a:prstGeom prst="rect">
            <a:avLst/>
          </a:prstGeom>
          <a:solidFill>
            <a:schemeClr val="bg1"/>
          </a:solidFill>
          <a:ln w="15875">
            <a:solidFill>
              <a:schemeClr val="tx1"/>
            </a:solidFill>
          </a:ln>
        </p:spPr>
        <p:txBody>
          <a:bodyPr wrap="square" lIns="635" tIns="635" rIns="635" bIns="635" rtlCol="0" anchor="ctr"/>
          <a:lstStyle/>
          <a:p>
            <a:pPr marL="0" indent="0" algn="ctr">
              <a:buNone/>
            </a:pPr>
            <a:r>
              <a:rPr lang="en-US" sz="1000" dirty="0">
                <a:solidFill>
                  <a:schemeClr val="tx1"/>
                </a:solidFill>
                <a:latin typeface="Times New Roman" panose="02020603050405020304" pitchFamily="18" charset="0"/>
                <a:cs typeface="Times New Roman" panose="02020603050405020304" pitchFamily="18" charset="0"/>
              </a:rPr>
              <a:t>Event recorded</a:t>
            </a:r>
            <a:endParaRPr lang="en-US" sz="1000" dirty="0">
              <a:latin typeface="Times New Roman" panose="02020603050405020304" pitchFamily="18" charset="0"/>
              <a:cs typeface="Times New Roman" panose="02020603050405020304" pitchFamily="18" charset="0"/>
            </a:endParaRPr>
          </a:p>
        </p:txBody>
      </p:sp>
      <p:sp>
        <p:nvSpPr>
          <p:cNvPr id="38"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B7B"/>
                </a:solidFill>
              </a:defRPr>
            </a:lvl1pPr>
          </a:lstStyle>
          <a:p>
            <a:pPr algn="r"/>
            <a:fld id="{F7021451-1387-4CA6-816F-3879F97B5CBC}" type="slidenum">
              <a:rPr lang="en-US" b="0">
                <a:latin typeface="Times New Roman" panose="02020603050405020304" pitchFamily="18" charset="0"/>
                <a:cs typeface="Times New Roman" panose="02020603050405020304" pitchFamily="18" charset="0"/>
              </a:rPr>
              <a:t>7</a:t>
            </a:fld>
            <a:endParaRPr lang="en-US">
              <a:latin typeface="Times New Roman" panose="02020603050405020304" pitchFamily="18" charset="0"/>
              <a:cs typeface="Times New Roman" panose="02020603050405020304" pitchFamily="18" charset="0"/>
            </a:endParaRPr>
          </a:p>
        </p:txBody>
      </p:sp>
      <p:pic>
        <p:nvPicPr>
          <p:cNvPr id="40" name="Picture 39">
            <a:extLst>
              <a:ext uri="{FF2B5EF4-FFF2-40B4-BE49-F238E27FC236}">
                <a16:creationId xmlns:a16="http://schemas.microsoft.com/office/drawing/2014/main" id="{28053FC0-882F-BDD7-9CB0-79D6024BBD62}"/>
              </a:ext>
            </a:extLst>
          </p:cNvPr>
          <p:cNvPicPr>
            <a:picLocks noChangeAspect="1"/>
          </p:cNvPicPr>
          <p:nvPr/>
        </p:nvPicPr>
        <p:blipFill>
          <a:blip r:embed="rId3"/>
          <a:stretch>
            <a:fillRect/>
          </a:stretch>
        </p:blipFill>
        <p:spPr>
          <a:xfrm>
            <a:off x="7227208" y="203457"/>
            <a:ext cx="1377296" cy="37337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594360"/>
          </a:xfrm>
          <a:prstGeom prst="rect">
            <a:avLst/>
          </a:prstGeom>
          <a:noFill/>
          <a:ln/>
        </p:spPr>
        <p:txBody>
          <a:bodyPr wrap="square" lIns="0" tIns="0" rIns="0" bIns="0" rtlCol="0" anchor="ctr"/>
          <a:lstStyle/>
          <a:p>
            <a:pPr marL="0" indent="0" algn="l">
              <a:buNone/>
            </a:pPr>
            <a:r>
              <a:rPr lang="en-US" sz="3200" b="1" dirty="0">
                <a:solidFill>
                  <a:schemeClr val="tx1"/>
                </a:solidFill>
                <a:latin typeface="Times New Roman" panose="02020603050405020304" pitchFamily="18" charset="0"/>
                <a:cs typeface="Times New Roman" panose="02020603050405020304" pitchFamily="18" charset="0"/>
              </a:rPr>
              <a:t>Tools and Technologies</a:t>
            </a:r>
            <a:endParaRPr lang="en-US" sz="3200" dirty="0">
              <a:latin typeface="Times New Roman" panose="02020603050405020304" pitchFamily="18" charset="0"/>
              <a:cs typeface="Times New Roman" panose="02020603050405020304" pitchFamily="18" charset="0"/>
            </a:endParaRPr>
          </a:p>
        </p:txBody>
      </p:sp>
      <p:sp>
        <p:nvSpPr>
          <p:cNvPr id="3" name="Tool 1 card"/>
          <p:cNvSpPr/>
          <p:nvPr/>
        </p:nvSpPr>
        <p:spPr>
          <a:xfrm>
            <a:off x="548640" y="1188720"/>
            <a:ext cx="2560320" cy="1371600"/>
          </a:xfrm>
          <a:prstGeom prst="rect">
            <a:avLst/>
          </a:prstGeom>
          <a:solidFill>
            <a:schemeClr val="bg2"/>
          </a:solidFill>
          <a:ln w="12700">
            <a:solidFill>
              <a:schemeClr val="bg2"/>
            </a:solidFill>
            <a:prstDash val="solid"/>
          </a:ln>
        </p:spPr>
      </p:sp>
      <p:sp>
        <p:nvSpPr>
          <p:cNvPr id="4" name="FRONTEND circle"/>
          <p:cNvSpPr/>
          <p:nvPr/>
        </p:nvSpPr>
        <p:spPr>
          <a:xfrm>
            <a:off x="731520" y="1371600"/>
            <a:ext cx="457200" cy="457200"/>
          </a:xfrm>
          <a:prstGeom prst="ellipse">
            <a:avLst/>
          </a:prstGeom>
          <a:solidFill>
            <a:schemeClr val="bg2"/>
          </a:solidFill>
          <a:ln w="12700">
            <a:solidFill>
              <a:schemeClr val="bg2"/>
            </a:solidFill>
            <a:prstDash val="solid"/>
          </a:ln>
        </p:spPr>
      </p:sp>
      <p:pic>
        <p:nvPicPr>
          <p:cNvPr id="5" name="FRONTEND icon" descr="FRONTEND"/>
          <p:cNvPicPr>
            <a:picLocks noChangeAspect="1"/>
          </p:cNvPicPr>
          <p:nvPr/>
        </p:nvPicPr>
        <p:blipFill>
          <a:blip r:embed="rId3"/>
          <a:stretch>
            <a:fillRect/>
          </a:stretch>
        </p:blipFill>
        <p:spPr>
          <a:xfrm>
            <a:off x="845820" y="1485900"/>
            <a:ext cx="228600" cy="228600"/>
          </a:xfrm>
          <a:prstGeom prst="rect">
            <a:avLst/>
          </a:prstGeom>
        </p:spPr>
      </p:pic>
      <p:sp>
        <p:nvSpPr>
          <p:cNvPr id="6" name="Text 3"/>
          <p:cNvSpPr txBox="1"/>
          <p:nvPr/>
        </p:nvSpPr>
        <p:spPr>
          <a:xfrm>
            <a:off x="1325880" y="1371600"/>
            <a:ext cx="1645920" cy="457200"/>
          </a:xfrm>
          <a:prstGeom prst="rect">
            <a:avLst/>
          </a:prstGeom>
          <a:noFill/>
          <a:ln/>
        </p:spPr>
        <p:txBody>
          <a:bodyPr wrap="square" lIns="0" tIns="0" rIns="0" bIns="0" rtlCol="0" anchor="ctr"/>
          <a:lstStyle/>
          <a:p>
            <a:pPr marL="0" indent="0">
              <a:buNone/>
            </a:pPr>
            <a:r>
              <a:rPr lang="en-US" sz="1100" b="1" kern="0" spc="200" dirty="0">
                <a:solidFill>
                  <a:schemeClr val="accent4"/>
                </a:solidFill>
                <a:latin typeface="Times New Roman" panose="02020603050405020304" pitchFamily="18" charset="0"/>
                <a:cs typeface="Times New Roman" panose="02020603050405020304" pitchFamily="18" charset="0"/>
              </a:rPr>
              <a:t>FRONTEND</a:t>
            </a:r>
            <a:endParaRPr lang="en-US" sz="1100" dirty="0">
              <a:latin typeface="Times New Roman" panose="02020603050405020304" pitchFamily="18" charset="0"/>
              <a:cs typeface="Times New Roman" panose="02020603050405020304" pitchFamily="18" charset="0"/>
            </a:endParaRPr>
          </a:p>
        </p:txBody>
      </p:sp>
      <p:sp>
        <p:nvSpPr>
          <p:cNvPr id="7" name="Text 4"/>
          <p:cNvSpPr txBox="1"/>
          <p:nvPr/>
        </p:nvSpPr>
        <p:spPr>
          <a:xfrm>
            <a:off x="731520" y="1965960"/>
            <a:ext cx="2194560" cy="365760"/>
          </a:xfrm>
          <a:prstGeom prst="rect">
            <a:avLst/>
          </a:prstGeom>
          <a:noFill/>
          <a:ln/>
        </p:spPr>
        <p:txBody>
          <a:bodyPr wrap="square" lIns="0" tIns="0" rIns="0" bIns="0" rtlCol="0" anchor="t"/>
          <a:lstStyle/>
          <a:p>
            <a:pPr marL="0" indent="0">
              <a:buNone/>
            </a:pPr>
            <a:r>
              <a:rPr lang="en-US" sz="1500" b="1" dirty="0">
                <a:solidFill>
                  <a:schemeClr val="tx1"/>
                </a:solidFill>
                <a:latin typeface="Times New Roman" panose="02020603050405020304" pitchFamily="18" charset="0"/>
                <a:cs typeface="Times New Roman" panose="02020603050405020304" pitchFamily="18" charset="0"/>
              </a:rPr>
              <a:t>React</a:t>
            </a:r>
            <a:endParaRPr lang="en-US" sz="1500" dirty="0">
              <a:latin typeface="Times New Roman" panose="02020603050405020304" pitchFamily="18" charset="0"/>
              <a:cs typeface="Times New Roman" panose="02020603050405020304" pitchFamily="18" charset="0"/>
            </a:endParaRPr>
          </a:p>
        </p:txBody>
      </p:sp>
      <p:sp>
        <p:nvSpPr>
          <p:cNvPr id="9" name="Tool 2 card"/>
          <p:cNvSpPr/>
          <p:nvPr/>
        </p:nvSpPr>
        <p:spPr>
          <a:xfrm>
            <a:off x="3291840" y="1188720"/>
            <a:ext cx="2560320" cy="1371600"/>
          </a:xfrm>
          <a:prstGeom prst="rect">
            <a:avLst/>
          </a:prstGeom>
          <a:solidFill>
            <a:schemeClr val="bg2"/>
          </a:solidFill>
          <a:ln w="12700">
            <a:solidFill>
              <a:schemeClr val="bg2"/>
            </a:solidFill>
            <a:prstDash val="solid"/>
          </a:ln>
        </p:spPr>
      </p:sp>
      <p:sp>
        <p:nvSpPr>
          <p:cNvPr id="10" name="BACKEND circle"/>
          <p:cNvSpPr/>
          <p:nvPr/>
        </p:nvSpPr>
        <p:spPr>
          <a:xfrm>
            <a:off x="3474720" y="1371600"/>
            <a:ext cx="457200" cy="457200"/>
          </a:xfrm>
          <a:prstGeom prst="ellipse">
            <a:avLst/>
          </a:prstGeom>
          <a:solidFill>
            <a:schemeClr val="bg2"/>
          </a:solidFill>
          <a:ln w="12700">
            <a:solidFill>
              <a:schemeClr val="bg2"/>
            </a:solidFill>
            <a:prstDash val="solid"/>
          </a:ln>
        </p:spPr>
      </p:sp>
      <p:pic>
        <p:nvPicPr>
          <p:cNvPr id="11" name="BACKEND icon" descr="BACKEND"/>
          <p:cNvPicPr>
            <a:picLocks noChangeAspect="1"/>
          </p:cNvPicPr>
          <p:nvPr/>
        </p:nvPicPr>
        <p:blipFill>
          <a:blip r:embed="rId4"/>
          <a:stretch>
            <a:fillRect/>
          </a:stretch>
        </p:blipFill>
        <p:spPr>
          <a:xfrm>
            <a:off x="3589020" y="1485900"/>
            <a:ext cx="228600" cy="228600"/>
          </a:xfrm>
          <a:prstGeom prst="rect">
            <a:avLst/>
          </a:prstGeom>
        </p:spPr>
      </p:pic>
      <p:sp>
        <p:nvSpPr>
          <p:cNvPr id="12" name="Text 8"/>
          <p:cNvSpPr txBox="1"/>
          <p:nvPr/>
        </p:nvSpPr>
        <p:spPr>
          <a:xfrm>
            <a:off x="4069080" y="1371600"/>
            <a:ext cx="1645920" cy="457200"/>
          </a:xfrm>
          <a:prstGeom prst="rect">
            <a:avLst/>
          </a:prstGeom>
          <a:noFill/>
          <a:ln/>
        </p:spPr>
        <p:txBody>
          <a:bodyPr wrap="square" lIns="0" tIns="0" rIns="0" bIns="0" rtlCol="0" anchor="ctr"/>
          <a:lstStyle/>
          <a:p>
            <a:pPr marL="0" indent="0">
              <a:buNone/>
            </a:pPr>
            <a:r>
              <a:rPr lang="en-US" sz="1100" b="1" kern="0" spc="200" dirty="0">
                <a:solidFill>
                  <a:schemeClr val="accent4"/>
                </a:solidFill>
                <a:latin typeface="Times New Roman" panose="02020603050405020304" pitchFamily="18" charset="0"/>
                <a:cs typeface="Times New Roman" panose="02020603050405020304" pitchFamily="18" charset="0"/>
              </a:rPr>
              <a:t>BACKEND</a:t>
            </a:r>
            <a:endParaRPr lang="en-US" sz="1100" dirty="0">
              <a:latin typeface="Times New Roman" panose="02020603050405020304" pitchFamily="18" charset="0"/>
              <a:cs typeface="Times New Roman" panose="02020603050405020304" pitchFamily="18" charset="0"/>
            </a:endParaRPr>
          </a:p>
        </p:txBody>
      </p:sp>
      <p:sp>
        <p:nvSpPr>
          <p:cNvPr id="13" name="Text 9"/>
          <p:cNvSpPr txBox="1"/>
          <p:nvPr/>
        </p:nvSpPr>
        <p:spPr>
          <a:xfrm>
            <a:off x="3474720" y="1965960"/>
            <a:ext cx="2194560" cy="365760"/>
          </a:xfrm>
          <a:prstGeom prst="rect">
            <a:avLst/>
          </a:prstGeom>
          <a:noFill/>
          <a:ln/>
        </p:spPr>
        <p:txBody>
          <a:bodyPr wrap="square" lIns="0" tIns="0" rIns="0" bIns="0" rtlCol="0" anchor="t"/>
          <a:lstStyle/>
          <a:p>
            <a:pPr marL="0" indent="0">
              <a:buNone/>
            </a:pPr>
            <a:r>
              <a:rPr lang="en-US" sz="1500" b="1" dirty="0">
                <a:solidFill>
                  <a:schemeClr val="tx1"/>
                </a:solidFill>
                <a:latin typeface="Times New Roman" panose="02020603050405020304" pitchFamily="18" charset="0"/>
                <a:cs typeface="Times New Roman" panose="02020603050405020304" pitchFamily="18" charset="0"/>
              </a:rPr>
              <a:t>Node.js, Express</a:t>
            </a:r>
            <a:endParaRPr lang="en-US" sz="1500" dirty="0">
              <a:latin typeface="Times New Roman" panose="02020603050405020304" pitchFamily="18" charset="0"/>
              <a:cs typeface="Times New Roman" panose="02020603050405020304" pitchFamily="18" charset="0"/>
            </a:endParaRPr>
          </a:p>
        </p:txBody>
      </p:sp>
      <p:sp>
        <p:nvSpPr>
          <p:cNvPr id="15" name="Tool 3 card"/>
          <p:cNvSpPr/>
          <p:nvPr/>
        </p:nvSpPr>
        <p:spPr>
          <a:xfrm>
            <a:off x="6035040" y="1188720"/>
            <a:ext cx="2560320" cy="1371600"/>
          </a:xfrm>
          <a:prstGeom prst="rect">
            <a:avLst/>
          </a:prstGeom>
          <a:solidFill>
            <a:schemeClr val="bg2"/>
          </a:solidFill>
          <a:ln w="12700">
            <a:solidFill>
              <a:schemeClr val="bg2"/>
            </a:solidFill>
            <a:prstDash val="solid"/>
          </a:ln>
        </p:spPr>
      </p:sp>
      <p:sp>
        <p:nvSpPr>
          <p:cNvPr id="16" name="DATABASE circle"/>
          <p:cNvSpPr/>
          <p:nvPr/>
        </p:nvSpPr>
        <p:spPr>
          <a:xfrm>
            <a:off x="6217920" y="1371600"/>
            <a:ext cx="457200" cy="457200"/>
          </a:xfrm>
          <a:prstGeom prst="ellipse">
            <a:avLst/>
          </a:prstGeom>
          <a:solidFill>
            <a:schemeClr val="bg2"/>
          </a:solidFill>
          <a:ln w="12700">
            <a:solidFill>
              <a:schemeClr val="bg2"/>
            </a:solidFill>
            <a:prstDash val="solid"/>
          </a:ln>
        </p:spPr>
      </p:sp>
      <p:pic>
        <p:nvPicPr>
          <p:cNvPr id="17" name="DATABASE icon" descr="DATABASE"/>
          <p:cNvPicPr>
            <a:picLocks noChangeAspect="1"/>
          </p:cNvPicPr>
          <p:nvPr/>
        </p:nvPicPr>
        <p:blipFill>
          <a:blip r:embed="rId5"/>
          <a:stretch>
            <a:fillRect/>
          </a:stretch>
        </p:blipFill>
        <p:spPr>
          <a:xfrm>
            <a:off x="6332220" y="1485900"/>
            <a:ext cx="228600" cy="228600"/>
          </a:xfrm>
          <a:prstGeom prst="rect">
            <a:avLst/>
          </a:prstGeom>
        </p:spPr>
      </p:pic>
      <p:sp>
        <p:nvSpPr>
          <p:cNvPr id="18" name="Text 13"/>
          <p:cNvSpPr txBox="1"/>
          <p:nvPr/>
        </p:nvSpPr>
        <p:spPr>
          <a:xfrm>
            <a:off x="6812280" y="1371600"/>
            <a:ext cx="1645920" cy="457200"/>
          </a:xfrm>
          <a:prstGeom prst="rect">
            <a:avLst/>
          </a:prstGeom>
          <a:noFill/>
          <a:ln/>
        </p:spPr>
        <p:txBody>
          <a:bodyPr wrap="square" lIns="0" tIns="0" rIns="0" bIns="0" rtlCol="0" anchor="ctr"/>
          <a:lstStyle/>
          <a:p>
            <a:pPr marL="0" indent="0">
              <a:buNone/>
            </a:pPr>
            <a:r>
              <a:rPr lang="en-US" sz="1100" b="1" kern="0" spc="200" dirty="0">
                <a:solidFill>
                  <a:schemeClr val="accent4"/>
                </a:solidFill>
                <a:latin typeface="Times New Roman" panose="02020603050405020304" pitchFamily="18" charset="0"/>
                <a:cs typeface="Times New Roman" panose="02020603050405020304" pitchFamily="18" charset="0"/>
              </a:rPr>
              <a:t>DATABASE</a:t>
            </a:r>
            <a:endParaRPr lang="en-US" sz="1100" dirty="0">
              <a:latin typeface="Times New Roman" panose="02020603050405020304" pitchFamily="18" charset="0"/>
              <a:cs typeface="Times New Roman" panose="02020603050405020304" pitchFamily="18" charset="0"/>
            </a:endParaRPr>
          </a:p>
        </p:txBody>
      </p:sp>
      <p:sp>
        <p:nvSpPr>
          <p:cNvPr id="19" name="Text 14"/>
          <p:cNvSpPr txBox="1"/>
          <p:nvPr/>
        </p:nvSpPr>
        <p:spPr>
          <a:xfrm>
            <a:off x="6217920" y="1965960"/>
            <a:ext cx="2194560" cy="365760"/>
          </a:xfrm>
          <a:prstGeom prst="rect">
            <a:avLst/>
          </a:prstGeom>
          <a:noFill/>
          <a:ln/>
        </p:spPr>
        <p:txBody>
          <a:bodyPr wrap="square" lIns="0" tIns="0" rIns="0" bIns="0" rtlCol="0" anchor="t"/>
          <a:lstStyle/>
          <a:p>
            <a:pPr marL="0" indent="0">
              <a:buNone/>
            </a:pPr>
            <a:r>
              <a:rPr lang="en-US" sz="1500" b="1" dirty="0">
                <a:solidFill>
                  <a:schemeClr val="tx1"/>
                </a:solidFill>
                <a:latin typeface="Times New Roman" panose="02020603050405020304" pitchFamily="18" charset="0"/>
                <a:cs typeface="Times New Roman" panose="02020603050405020304" pitchFamily="18" charset="0"/>
              </a:rPr>
              <a:t>MongoDB</a:t>
            </a:r>
            <a:endParaRPr lang="en-US" sz="1500" dirty="0">
              <a:latin typeface="Times New Roman" panose="02020603050405020304" pitchFamily="18" charset="0"/>
              <a:cs typeface="Times New Roman" panose="02020603050405020304" pitchFamily="18" charset="0"/>
            </a:endParaRPr>
          </a:p>
        </p:txBody>
      </p:sp>
      <p:sp>
        <p:nvSpPr>
          <p:cNvPr id="21" name="Tool 4 card"/>
          <p:cNvSpPr/>
          <p:nvPr/>
        </p:nvSpPr>
        <p:spPr>
          <a:xfrm>
            <a:off x="548640" y="2743200"/>
            <a:ext cx="2560320" cy="1371600"/>
          </a:xfrm>
          <a:prstGeom prst="rect">
            <a:avLst/>
          </a:prstGeom>
          <a:solidFill>
            <a:schemeClr val="bg2"/>
          </a:solidFill>
          <a:ln w="12700">
            <a:solidFill>
              <a:schemeClr val="bg2"/>
            </a:solidFill>
            <a:prstDash val="solid"/>
          </a:ln>
        </p:spPr>
      </p:sp>
      <p:sp>
        <p:nvSpPr>
          <p:cNvPr id="22" name="SCHEDULING circle"/>
          <p:cNvSpPr/>
          <p:nvPr/>
        </p:nvSpPr>
        <p:spPr>
          <a:xfrm>
            <a:off x="731520" y="2926080"/>
            <a:ext cx="457200" cy="457200"/>
          </a:xfrm>
          <a:prstGeom prst="ellipse">
            <a:avLst/>
          </a:prstGeom>
          <a:solidFill>
            <a:schemeClr val="bg2"/>
          </a:solidFill>
          <a:ln w="12700">
            <a:solidFill>
              <a:schemeClr val="bg2"/>
            </a:solidFill>
            <a:prstDash val="solid"/>
          </a:ln>
        </p:spPr>
      </p:sp>
      <p:pic>
        <p:nvPicPr>
          <p:cNvPr id="23" name="SCHEDULING icon" descr="SCHEDULING"/>
          <p:cNvPicPr>
            <a:picLocks noChangeAspect="1"/>
          </p:cNvPicPr>
          <p:nvPr/>
        </p:nvPicPr>
        <p:blipFill>
          <a:blip r:embed="rId6"/>
          <a:stretch>
            <a:fillRect/>
          </a:stretch>
        </p:blipFill>
        <p:spPr>
          <a:xfrm>
            <a:off x="845820" y="3040380"/>
            <a:ext cx="228600" cy="228600"/>
          </a:xfrm>
          <a:prstGeom prst="rect">
            <a:avLst/>
          </a:prstGeom>
        </p:spPr>
      </p:pic>
      <p:sp>
        <p:nvSpPr>
          <p:cNvPr id="24" name="Text 18"/>
          <p:cNvSpPr txBox="1"/>
          <p:nvPr/>
        </p:nvSpPr>
        <p:spPr>
          <a:xfrm>
            <a:off x="1325880" y="2926080"/>
            <a:ext cx="1645920" cy="457200"/>
          </a:xfrm>
          <a:prstGeom prst="rect">
            <a:avLst/>
          </a:prstGeom>
          <a:noFill/>
          <a:ln/>
        </p:spPr>
        <p:txBody>
          <a:bodyPr wrap="square" lIns="0" tIns="0" rIns="0" bIns="0" rtlCol="0" anchor="ctr"/>
          <a:lstStyle/>
          <a:p>
            <a:pPr marL="0" indent="0">
              <a:buNone/>
            </a:pPr>
            <a:r>
              <a:rPr lang="en-US" sz="1100" b="1" kern="0" spc="200" dirty="0">
                <a:solidFill>
                  <a:schemeClr val="accent4"/>
                </a:solidFill>
                <a:latin typeface="Times New Roman" panose="02020603050405020304" pitchFamily="18" charset="0"/>
                <a:cs typeface="Times New Roman" panose="02020603050405020304" pitchFamily="18" charset="0"/>
              </a:rPr>
              <a:t>SCHEDULING</a:t>
            </a:r>
            <a:endParaRPr lang="en-US" sz="1100" dirty="0">
              <a:latin typeface="Times New Roman" panose="02020603050405020304" pitchFamily="18" charset="0"/>
              <a:cs typeface="Times New Roman" panose="02020603050405020304" pitchFamily="18" charset="0"/>
            </a:endParaRPr>
          </a:p>
        </p:txBody>
      </p:sp>
      <p:sp>
        <p:nvSpPr>
          <p:cNvPr id="25" name="Text 19"/>
          <p:cNvSpPr txBox="1"/>
          <p:nvPr/>
        </p:nvSpPr>
        <p:spPr>
          <a:xfrm>
            <a:off x="731520" y="3520440"/>
            <a:ext cx="2194560" cy="365760"/>
          </a:xfrm>
          <a:prstGeom prst="rect">
            <a:avLst/>
          </a:prstGeom>
          <a:noFill/>
          <a:ln/>
        </p:spPr>
        <p:txBody>
          <a:bodyPr wrap="square" lIns="0" tIns="0" rIns="0" bIns="0" rtlCol="0" anchor="t"/>
          <a:lstStyle/>
          <a:p>
            <a:pPr marL="0" indent="0">
              <a:buNone/>
            </a:pPr>
            <a:r>
              <a:rPr lang="en-US" sz="1500" b="1" dirty="0">
                <a:solidFill>
                  <a:schemeClr val="tx1"/>
                </a:solidFill>
                <a:latin typeface="Times New Roman" panose="02020603050405020304" pitchFamily="18" charset="0"/>
                <a:cs typeface="Times New Roman" panose="02020603050405020304" pitchFamily="18" charset="0"/>
              </a:rPr>
              <a:t>Node-Cron</a:t>
            </a:r>
            <a:endParaRPr lang="en-US" sz="1500" dirty="0">
              <a:latin typeface="Times New Roman" panose="02020603050405020304" pitchFamily="18" charset="0"/>
              <a:cs typeface="Times New Roman" panose="02020603050405020304" pitchFamily="18" charset="0"/>
            </a:endParaRPr>
          </a:p>
        </p:txBody>
      </p:sp>
      <p:sp>
        <p:nvSpPr>
          <p:cNvPr id="26" name="Tool 5 card"/>
          <p:cNvSpPr/>
          <p:nvPr/>
        </p:nvSpPr>
        <p:spPr>
          <a:xfrm>
            <a:off x="3291840" y="2743200"/>
            <a:ext cx="2560320" cy="1371600"/>
          </a:xfrm>
          <a:prstGeom prst="rect">
            <a:avLst/>
          </a:prstGeom>
          <a:solidFill>
            <a:schemeClr val="bg2"/>
          </a:solidFill>
          <a:ln w="12700">
            <a:solidFill>
              <a:schemeClr val="bg2"/>
            </a:solidFill>
            <a:prstDash val="solid"/>
          </a:ln>
        </p:spPr>
      </p:sp>
      <p:sp>
        <p:nvSpPr>
          <p:cNvPr id="27" name="NOTIFICATIONS circle"/>
          <p:cNvSpPr/>
          <p:nvPr/>
        </p:nvSpPr>
        <p:spPr>
          <a:xfrm>
            <a:off x="3474720" y="2926080"/>
            <a:ext cx="457200" cy="457200"/>
          </a:xfrm>
          <a:prstGeom prst="ellipse">
            <a:avLst/>
          </a:prstGeom>
          <a:solidFill>
            <a:schemeClr val="bg2"/>
          </a:solidFill>
          <a:ln w="12700">
            <a:solidFill>
              <a:schemeClr val="bg2"/>
            </a:solidFill>
            <a:prstDash val="solid"/>
          </a:ln>
        </p:spPr>
      </p:sp>
      <p:pic>
        <p:nvPicPr>
          <p:cNvPr id="28" name="NOTIFICATIONS icon" descr="NOTIFICATIONS"/>
          <p:cNvPicPr>
            <a:picLocks noChangeAspect="1"/>
          </p:cNvPicPr>
          <p:nvPr/>
        </p:nvPicPr>
        <p:blipFill>
          <a:blip r:embed="rId7"/>
          <a:stretch>
            <a:fillRect/>
          </a:stretch>
        </p:blipFill>
        <p:spPr>
          <a:xfrm>
            <a:off x="3589020" y="3040380"/>
            <a:ext cx="228600" cy="228600"/>
          </a:xfrm>
          <a:prstGeom prst="rect">
            <a:avLst/>
          </a:prstGeom>
        </p:spPr>
      </p:pic>
      <p:sp>
        <p:nvSpPr>
          <p:cNvPr id="29" name="Text 22"/>
          <p:cNvSpPr txBox="1"/>
          <p:nvPr/>
        </p:nvSpPr>
        <p:spPr>
          <a:xfrm>
            <a:off x="4069080" y="2926080"/>
            <a:ext cx="1645920" cy="457200"/>
          </a:xfrm>
          <a:prstGeom prst="rect">
            <a:avLst/>
          </a:prstGeom>
          <a:noFill/>
          <a:ln/>
        </p:spPr>
        <p:txBody>
          <a:bodyPr wrap="square" lIns="0" tIns="0" rIns="0" bIns="0" rtlCol="0" anchor="ctr"/>
          <a:lstStyle/>
          <a:p>
            <a:pPr marL="0" indent="0">
              <a:buNone/>
            </a:pPr>
            <a:r>
              <a:rPr lang="en-US" sz="1100" b="1" kern="0" spc="200" dirty="0">
                <a:solidFill>
                  <a:schemeClr val="accent4"/>
                </a:solidFill>
                <a:latin typeface="Times New Roman" panose="02020603050405020304" pitchFamily="18" charset="0"/>
                <a:cs typeface="Times New Roman" panose="02020603050405020304" pitchFamily="18" charset="0"/>
              </a:rPr>
              <a:t>NOTIFICATIONS</a:t>
            </a:r>
            <a:endParaRPr lang="en-US" sz="1100" dirty="0">
              <a:latin typeface="Times New Roman" panose="02020603050405020304" pitchFamily="18" charset="0"/>
              <a:cs typeface="Times New Roman" panose="02020603050405020304" pitchFamily="18" charset="0"/>
            </a:endParaRPr>
          </a:p>
        </p:txBody>
      </p:sp>
      <p:sp>
        <p:nvSpPr>
          <p:cNvPr id="30" name="Text 23"/>
          <p:cNvSpPr txBox="1"/>
          <p:nvPr/>
        </p:nvSpPr>
        <p:spPr>
          <a:xfrm>
            <a:off x="3474720" y="3520440"/>
            <a:ext cx="2194560" cy="365760"/>
          </a:xfrm>
          <a:prstGeom prst="rect">
            <a:avLst/>
          </a:prstGeom>
          <a:noFill/>
          <a:ln/>
        </p:spPr>
        <p:txBody>
          <a:bodyPr wrap="square" lIns="0" tIns="0" rIns="0" bIns="0" rtlCol="0" anchor="t"/>
          <a:lstStyle/>
          <a:p>
            <a:pPr marL="0" indent="0">
              <a:buNone/>
            </a:pPr>
            <a:r>
              <a:rPr lang="en-US" sz="1500" b="1" dirty="0">
                <a:solidFill>
                  <a:schemeClr val="tx1"/>
                </a:solidFill>
                <a:latin typeface="Times New Roman" panose="02020603050405020304" pitchFamily="18" charset="0"/>
                <a:cs typeface="Times New Roman" panose="02020603050405020304" pitchFamily="18" charset="0"/>
              </a:rPr>
              <a:t>Twilio SMS, </a:t>
            </a:r>
            <a:r>
              <a:rPr lang="en-US" sz="1500" b="1" dirty="0" err="1">
                <a:solidFill>
                  <a:schemeClr val="tx1"/>
                </a:solidFill>
                <a:latin typeface="Times New Roman" panose="02020603050405020304" pitchFamily="18" charset="0"/>
                <a:cs typeface="Times New Roman" panose="02020603050405020304" pitchFamily="18" charset="0"/>
              </a:rPr>
              <a:t>Nodemailer</a:t>
            </a:r>
            <a:endParaRPr lang="en-US" sz="1500" b="1" dirty="0">
              <a:solidFill>
                <a:schemeClr val="tx1"/>
              </a:solidFill>
              <a:latin typeface="Times New Roman" panose="02020603050405020304" pitchFamily="18" charset="0"/>
              <a:cs typeface="Times New Roman" panose="02020603050405020304" pitchFamily="18" charset="0"/>
            </a:endParaRPr>
          </a:p>
          <a:p>
            <a:pPr marL="0" indent="0">
              <a:buNone/>
            </a:pPr>
            <a:r>
              <a:rPr lang="en-US" sz="1500" b="1" dirty="0">
                <a:latin typeface="Times New Roman" panose="02020603050405020304" pitchFamily="18" charset="0"/>
                <a:cs typeface="Times New Roman" panose="02020603050405020304" pitchFamily="18" charset="0"/>
              </a:rPr>
              <a:t>Telegram can be used</a:t>
            </a:r>
            <a:endParaRPr lang="en-US" sz="1500" dirty="0">
              <a:latin typeface="Times New Roman" panose="02020603050405020304" pitchFamily="18" charset="0"/>
              <a:cs typeface="Times New Roman" panose="02020603050405020304" pitchFamily="18" charset="0"/>
            </a:endParaRPr>
          </a:p>
        </p:txBody>
      </p:sp>
      <p:sp>
        <p:nvSpPr>
          <p:cNvPr id="32" name="Tool 6 card"/>
          <p:cNvSpPr/>
          <p:nvPr/>
        </p:nvSpPr>
        <p:spPr>
          <a:xfrm>
            <a:off x="6035040" y="2743200"/>
            <a:ext cx="2560320" cy="1371600"/>
          </a:xfrm>
          <a:prstGeom prst="rect">
            <a:avLst/>
          </a:prstGeom>
          <a:solidFill>
            <a:schemeClr val="bg2"/>
          </a:solidFill>
          <a:ln w="12700">
            <a:solidFill>
              <a:schemeClr val="bg2"/>
            </a:solidFill>
            <a:prstDash val="solid"/>
          </a:ln>
        </p:spPr>
      </p:sp>
      <p:sp>
        <p:nvSpPr>
          <p:cNvPr id="33" name="AUTHENTICATION circle"/>
          <p:cNvSpPr/>
          <p:nvPr/>
        </p:nvSpPr>
        <p:spPr>
          <a:xfrm>
            <a:off x="6217920" y="2926080"/>
            <a:ext cx="457200" cy="457200"/>
          </a:xfrm>
          <a:prstGeom prst="ellipse">
            <a:avLst/>
          </a:prstGeom>
          <a:solidFill>
            <a:schemeClr val="bg2"/>
          </a:solidFill>
          <a:ln w="12700">
            <a:solidFill>
              <a:schemeClr val="bg2"/>
            </a:solidFill>
            <a:prstDash val="solid"/>
          </a:ln>
        </p:spPr>
      </p:sp>
      <p:pic>
        <p:nvPicPr>
          <p:cNvPr id="34" name="AUTHENTICATION icon" descr="AUTHENTICATION"/>
          <p:cNvPicPr>
            <a:picLocks noChangeAspect="1"/>
          </p:cNvPicPr>
          <p:nvPr/>
        </p:nvPicPr>
        <p:blipFill>
          <a:blip r:embed="rId8"/>
          <a:stretch>
            <a:fillRect/>
          </a:stretch>
        </p:blipFill>
        <p:spPr>
          <a:xfrm>
            <a:off x="6332220" y="3040380"/>
            <a:ext cx="228600" cy="228600"/>
          </a:xfrm>
          <a:prstGeom prst="rect">
            <a:avLst/>
          </a:prstGeom>
        </p:spPr>
      </p:pic>
      <p:sp>
        <p:nvSpPr>
          <p:cNvPr id="35" name="Text 27"/>
          <p:cNvSpPr txBox="1"/>
          <p:nvPr/>
        </p:nvSpPr>
        <p:spPr>
          <a:xfrm>
            <a:off x="6812280" y="2926080"/>
            <a:ext cx="1645920" cy="457200"/>
          </a:xfrm>
          <a:prstGeom prst="rect">
            <a:avLst/>
          </a:prstGeom>
          <a:noFill/>
          <a:ln/>
        </p:spPr>
        <p:txBody>
          <a:bodyPr wrap="square" lIns="0" tIns="0" rIns="0" bIns="0" rtlCol="0" anchor="ctr"/>
          <a:lstStyle/>
          <a:p>
            <a:pPr marL="0" indent="0">
              <a:buNone/>
            </a:pPr>
            <a:r>
              <a:rPr lang="en-US" sz="1100" b="1" kern="0" spc="200" dirty="0">
                <a:solidFill>
                  <a:schemeClr val="accent4"/>
                </a:solidFill>
                <a:latin typeface="Times New Roman" panose="02020603050405020304" pitchFamily="18" charset="0"/>
                <a:cs typeface="Times New Roman" panose="02020603050405020304" pitchFamily="18" charset="0"/>
              </a:rPr>
              <a:t>AUTHENTICATION</a:t>
            </a:r>
            <a:endParaRPr lang="en-US" sz="1100" dirty="0">
              <a:latin typeface="Times New Roman" panose="02020603050405020304" pitchFamily="18" charset="0"/>
              <a:cs typeface="Times New Roman" panose="02020603050405020304" pitchFamily="18" charset="0"/>
            </a:endParaRPr>
          </a:p>
        </p:txBody>
      </p:sp>
      <p:sp>
        <p:nvSpPr>
          <p:cNvPr id="36" name="Text 28"/>
          <p:cNvSpPr txBox="1"/>
          <p:nvPr/>
        </p:nvSpPr>
        <p:spPr>
          <a:xfrm>
            <a:off x="6217920" y="3520440"/>
            <a:ext cx="2194560" cy="365760"/>
          </a:xfrm>
          <a:prstGeom prst="rect">
            <a:avLst/>
          </a:prstGeom>
          <a:noFill/>
          <a:ln/>
        </p:spPr>
        <p:txBody>
          <a:bodyPr wrap="square" lIns="0" tIns="0" rIns="0" bIns="0" rtlCol="0" anchor="t"/>
          <a:lstStyle/>
          <a:p>
            <a:pPr marL="0" indent="0">
              <a:buNone/>
            </a:pPr>
            <a:r>
              <a:rPr lang="en-US" sz="1500" b="1" dirty="0">
                <a:solidFill>
                  <a:schemeClr val="tx1"/>
                </a:solidFill>
                <a:latin typeface="Times New Roman" panose="02020603050405020304" pitchFamily="18" charset="0"/>
                <a:cs typeface="Times New Roman" panose="02020603050405020304" pitchFamily="18" charset="0"/>
              </a:rPr>
              <a:t>JWT, </a:t>
            </a:r>
            <a:r>
              <a:rPr lang="en-US" sz="1500" b="1" dirty="0" err="1">
                <a:solidFill>
                  <a:schemeClr val="tx1"/>
                </a:solidFill>
                <a:latin typeface="Times New Roman" panose="02020603050405020304" pitchFamily="18" charset="0"/>
                <a:cs typeface="Times New Roman" panose="02020603050405020304" pitchFamily="18" charset="0"/>
              </a:rPr>
              <a:t>bcrypt</a:t>
            </a:r>
            <a:r>
              <a:rPr lang="en-US" sz="1500" b="1" dirty="0">
                <a:solidFill>
                  <a:schemeClr val="tx1"/>
                </a:solidFill>
                <a:latin typeface="Times New Roman" panose="02020603050405020304" pitchFamily="18" charset="0"/>
                <a:cs typeface="Times New Roman" panose="02020603050405020304" pitchFamily="18" charset="0"/>
              </a:rPr>
              <a:t>, Google authentication</a:t>
            </a:r>
            <a:endParaRPr lang="en-US" sz="1500" dirty="0">
              <a:latin typeface="Times New Roman" panose="02020603050405020304" pitchFamily="18" charset="0"/>
              <a:cs typeface="Times New Roman" panose="02020603050405020304" pitchFamily="18" charset="0"/>
            </a:endParaRPr>
          </a:p>
        </p:txBody>
      </p:sp>
      <p:sp>
        <p:nvSpPr>
          <p:cNvPr id="39"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B7B"/>
                </a:solidFill>
              </a:defRPr>
            </a:lvl1pPr>
          </a:lstStyle>
          <a:p>
            <a:pPr algn="r"/>
            <a:fld id="{F7021451-1387-4CA6-816F-3879F97B5CBC}" type="slidenum">
              <a:rPr lang="en-US" b="0">
                <a:latin typeface="Times New Roman" panose="02020603050405020304" pitchFamily="18" charset="0"/>
                <a:cs typeface="Times New Roman" panose="02020603050405020304" pitchFamily="18" charset="0"/>
              </a:rPr>
              <a:t>8</a:t>
            </a:fld>
            <a:endParaRPr lang="en-US">
              <a:latin typeface="Times New Roman" panose="02020603050405020304" pitchFamily="18" charset="0"/>
              <a:cs typeface="Times New Roman" panose="02020603050405020304" pitchFamily="18" charset="0"/>
            </a:endParaRPr>
          </a:p>
        </p:txBody>
      </p:sp>
      <p:pic>
        <p:nvPicPr>
          <p:cNvPr id="41" name="Picture 40">
            <a:extLst>
              <a:ext uri="{FF2B5EF4-FFF2-40B4-BE49-F238E27FC236}">
                <a16:creationId xmlns:a16="http://schemas.microsoft.com/office/drawing/2014/main" id="{9CF39FA8-0BDF-C239-F526-DFC89F914C53}"/>
              </a:ext>
            </a:extLst>
          </p:cNvPr>
          <p:cNvPicPr>
            <a:picLocks noChangeAspect="1"/>
          </p:cNvPicPr>
          <p:nvPr/>
        </p:nvPicPr>
        <p:blipFill>
          <a:blip r:embed="rId9"/>
          <a:stretch>
            <a:fillRect/>
          </a:stretch>
        </p:blipFill>
        <p:spPr>
          <a:xfrm>
            <a:off x="7227208" y="203457"/>
            <a:ext cx="1377296" cy="37337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594360"/>
          </a:xfrm>
          <a:prstGeom prst="rect">
            <a:avLst/>
          </a:prstGeom>
          <a:noFill/>
          <a:ln/>
        </p:spPr>
        <p:txBody>
          <a:bodyPr wrap="square" lIns="0" tIns="0" rIns="0" bIns="0" rtlCol="0" anchor="ctr"/>
          <a:lstStyle/>
          <a:p>
            <a:pPr marL="0" indent="0" algn="l">
              <a:buNone/>
            </a:pPr>
            <a:r>
              <a:rPr lang="en-US" sz="3200" b="1" dirty="0">
                <a:solidFill>
                  <a:schemeClr val="tx1"/>
                </a:solidFill>
                <a:latin typeface="Times New Roman" panose="02020603050405020304" pitchFamily="18" charset="0"/>
                <a:cs typeface="Times New Roman" panose="02020603050405020304" pitchFamily="18" charset="0"/>
              </a:rPr>
              <a:t>Work Plan</a:t>
            </a:r>
            <a:endParaRPr lang="en-US" sz="3200" dirty="0">
              <a:latin typeface="Times New Roman" panose="02020603050405020304" pitchFamily="18" charset="0"/>
              <a:cs typeface="Times New Roman" panose="02020603050405020304" pitchFamily="18" charset="0"/>
            </a:endParaRPr>
          </a:p>
        </p:txBody>
      </p:sp>
      <p:sp>
        <p:nvSpPr>
          <p:cNvPr id="3" name="Text 1"/>
          <p:cNvSpPr txBox="1"/>
          <p:nvPr/>
        </p:nvSpPr>
        <p:spPr>
          <a:xfrm>
            <a:off x="1097280" y="1051560"/>
            <a:ext cx="1097280" cy="228600"/>
          </a:xfrm>
          <a:prstGeom prst="rect">
            <a:avLst/>
          </a:prstGeom>
          <a:noFill/>
          <a:ln/>
        </p:spPr>
        <p:txBody>
          <a:bodyPr wrap="square" lIns="0" tIns="0" rIns="0" bIns="0" rtlCol="0" anchor="t"/>
          <a:lstStyle/>
          <a:p>
            <a:pPr marL="0" indent="0">
              <a:buNone/>
            </a:pPr>
            <a:r>
              <a:rPr lang="en-US" sz="1000" b="1" kern="0" spc="200" dirty="0">
                <a:solidFill>
                  <a:schemeClr val="accent4"/>
                </a:solidFill>
                <a:latin typeface="Times New Roman" panose="02020603050405020304" pitchFamily="18" charset="0"/>
                <a:cs typeface="Times New Roman" panose="02020603050405020304" pitchFamily="18" charset="0"/>
              </a:rPr>
              <a:t>STAGE</a:t>
            </a:r>
            <a:endParaRPr lang="en-US" sz="1000" dirty="0">
              <a:latin typeface="Times New Roman" panose="02020603050405020304" pitchFamily="18" charset="0"/>
              <a:cs typeface="Times New Roman" panose="02020603050405020304" pitchFamily="18" charset="0"/>
            </a:endParaRPr>
          </a:p>
        </p:txBody>
      </p:sp>
      <p:sp>
        <p:nvSpPr>
          <p:cNvPr id="8" name="Stage 1 marker"/>
          <p:cNvSpPr/>
          <p:nvPr/>
        </p:nvSpPr>
        <p:spPr>
          <a:xfrm>
            <a:off x="548640" y="1417320"/>
            <a:ext cx="365760" cy="365760"/>
          </a:xfrm>
          <a:prstGeom prst="ellipse">
            <a:avLst/>
          </a:prstGeom>
          <a:solidFill>
            <a:schemeClr val="accent2"/>
          </a:solidFill>
          <a:ln w="19050">
            <a:solidFill>
              <a:schemeClr val="bg1"/>
            </a:solidFill>
            <a:prstDash val="solid"/>
          </a:ln>
        </p:spPr>
      </p:sp>
      <p:sp>
        <p:nvSpPr>
          <p:cNvPr id="9" name="Text 7"/>
          <p:cNvSpPr txBox="1"/>
          <p:nvPr/>
        </p:nvSpPr>
        <p:spPr>
          <a:xfrm>
            <a:off x="548640" y="1417320"/>
            <a:ext cx="365760" cy="365760"/>
          </a:xfrm>
          <a:prstGeom prst="rect">
            <a:avLst/>
          </a:prstGeom>
          <a:noFill/>
          <a:ln/>
        </p:spPr>
        <p:txBody>
          <a:bodyPr wrap="square" lIns="0" tIns="0" rIns="0" bIns="0" rtlCol="0" anchor="ctr"/>
          <a:lstStyle/>
          <a:p>
            <a:pPr marL="0" indent="0" algn="ctr">
              <a:buNone/>
            </a:pPr>
            <a:r>
              <a:rPr lang="en-US" sz="1200" b="1" dirty="0">
                <a:solidFill>
                  <a:schemeClr val="bg1"/>
                </a:solidFill>
                <a:latin typeface="Times New Roman" panose="02020603050405020304" pitchFamily="18" charset="0"/>
                <a:cs typeface="Times New Roman" panose="02020603050405020304" pitchFamily="18" charset="0"/>
              </a:rPr>
              <a:t>1</a:t>
            </a:r>
            <a:endParaRPr lang="en-US" sz="1200" dirty="0">
              <a:latin typeface="Times New Roman" panose="02020603050405020304" pitchFamily="18" charset="0"/>
              <a:cs typeface="Times New Roman" panose="02020603050405020304" pitchFamily="18" charset="0"/>
            </a:endParaRPr>
          </a:p>
        </p:txBody>
      </p:sp>
      <p:sp>
        <p:nvSpPr>
          <p:cNvPr id="10" name="Text 8"/>
          <p:cNvSpPr txBox="1"/>
          <p:nvPr/>
        </p:nvSpPr>
        <p:spPr>
          <a:xfrm>
            <a:off x="1097280" y="1371600"/>
            <a:ext cx="4023360" cy="457200"/>
          </a:xfrm>
          <a:prstGeom prst="rect">
            <a:avLst/>
          </a:prstGeom>
          <a:noFill/>
          <a:ln/>
        </p:spPr>
        <p:txBody>
          <a:bodyPr wrap="square" lIns="0" tIns="0" rIns="0" bIns="0" rtlCol="0" anchor="ctr"/>
          <a:lstStyle/>
          <a:p>
            <a:pPr marL="0" indent="0">
              <a:buNone/>
            </a:pPr>
            <a:r>
              <a:rPr lang="en-US" sz="1300" dirty="0">
                <a:solidFill>
                  <a:schemeClr val="tx1"/>
                </a:solidFill>
                <a:latin typeface="Times New Roman" panose="02020603050405020304" pitchFamily="18" charset="0"/>
                <a:cs typeface="Times New Roman" panose="02020603050405020304" pitchFamily="18" charset="0"/>
              </a:rPr>
              <a:t>Requirements analysis and literature survey</a:t>
            </a:r>
            <a:endParaRPr lang="en-US" sz="1300" dirty="0">
              <a:latin typeface="Times New Roman" panose="02020603050405020304" pitchFamily="18" charset="0"/>
              <a:cs typeface="Times New Roman" panose="02020603050405020304" pitchFamily="18" charset="0"/>
            </a:endParaRPr>
          </a:p>
        </p:txBody>
      </p:sp>
      <p:sp>
        <p:nvSpPr>
          <p:cNvPr id="14" name="Stage 2 marker"/>
          <p:cNvSpPr/>
          <p:nvPr/>
        </p:nvSpPr>
        <p:spPr>
          <a:xfrm>
            <a:off x="548640" y="1879092"/>
            <a:ext cx="365760" cy="365760"/>
          </a:xfrm>
          <a:prstGeom prst="ellipse">
            <a:avLst/>
          </a:prstGeom>
          <a:solidFill>
            <a:schemeClr val="accent2"/>
          </a:solidFill>
          <a:ln w="19050">
            <a:solidFill>
              <a:schemeClr val="bg1"/>
            </a:solidFill>
            <a:prstDash val="solid"/>
          </a:ln>
        </p:spPr>
      </p:sp>
      <p:sp>
        <p:nvSpPr>
          <p:cNvPr id="15" name="Text 13"/>
          <p:cNvSpPr txBox="1"/>
          <p:nvPr/>
        </p:nvSpPr>
        <p:spPr>
          <a:xfrm>
            <a:off x="548640" y="1879092"/>
            <a:ext cx="365760" cy="365760"/>
          </a:xfrm>
          <a:prstGeom prst="rect">
            <a:avLst/>
          </a:prstGeom>
          <a:noFill/>
          <a:ln/>
        </p:spPr>
        <p:txBody>
          <a:bodyPr wrap="square" lIns="0" tIns="0" rIns="0" bIns="0" rtlCol="0" anchor="ctr"/>
          <a:lstStyle/>
          <a:p>
            <a:pPr marL="0" indent="0" algn="ctr">
              <a:buNone/>
            </a:pPr>
            <a:r>
              <a:rPr lang="en-US" sz="1200" b="1" dirty="0">
                <a:solidFill>
                  <a:schemeClr val="bg1"/>
                </a:solidFill>
                <a:latin typeface="Times New Roman" panose="02020603050405020304" pitchFamily="18" charset="0"/>
                <a:cs typeface="Times New Roman" panose="02020603050405020304" pitchFamily="18" charset="0"/>
              </a:rPr>
              <a:t>2</a:t>
            </a:r>
            <a:endParaRPr lang="en-US" sz="1200" dirty="0">
              <a:latin typeface="Times New Roman" panose="02020603050405020304" pitchFamily="18" charset="0"/>
              <a:cs typeface="Times New Roman" panose="02020603050405020304" pitchFamily="18" charset="0"/>
            </a:endParaRPr>
          </a:p>
        </p:txBody>
      </p:sp>
      <p:sp>
        <p:nvSpPr>
          <p:cNvPr id="16" name="Text 14"/>
          <p:cNvSpPr txBox="1"/>
          <p:nvPr/>
        </p:nvSpPr>
        <p:spPr>
          <a:xfrm>
            <a:off x="1097280" y="1833372"/>
            <a:ext cx="4023360" cy="457200"/>
          </a:xfrm>
          <a:prstGeom prst="rect">
            <a:avLst/>
          </a:prstGeom>
          <a:noFill/>
          <a:ln/>
        </p:spPr>
        <p:txBody>
          <a:bodyPr wrap="square" lIns="0" tIns="0" rIns="0" bIns="0" rtlCol="0" anchor="ctr"/>
          <a:lstStyle/>
          <a:p>
            <a:pPr marL="0" indent="0">
              <a:buNone/>
            </a:pPr>
            <a:r>
              <a:rPr lang="en-US" sz="1300" dirty="0">
                <a:solidFill>
                  <a:schemeClr val="tx1"/>
                </a:solidFill>
                <a:latin typeface="Times New Roman" panose="02020603050405020304" pitchFamily="18" charset="0"/>
                <a:cs typeface="Times New Roman" panose="02020603050405020304" pitchFamily="18" charset="0"/>
              </a:rPr>
              <a:t>UI design and database design</a:t>
            </a:r>
            <a:endParaRPr lang="en-US" sz="1300" dirty="0">
              <a:latin typeface="Times New Roman" panose="02020603050405020304" pitchFamily="18" charset="0"/>
              <a:cs typeface="Times New Roman" panose="02020603050405020304" pitchFamily="18" charset="0"/>
            </a:endParaRPr>
          </a:p>
        </p:txBody>
      </p:sp>
      <p:sp>
        <p:nvSpPr>
          <p:cNvPr id="20" name="Stage 3 marker"/>
          <p:cNvSpPr/>
          <p:nvPr/>
        </p:nvSpPr>
        <p:spPr>
          <a:xfrm>
            <a:off x="548640" y="2340864"/>
            <a:ext cx="365760" cy="365760"/>
          </a:xfrm>
          <a:prstGeom prst="ellipse">
            <a:avLst/>
          </a:prstGeom>
          <a:solidFill>
            <a:schemeClr val="accent2"/>
          </a:solidFill>
          <a:ln w="19050">
            <a:solidFill>
              <a:schemeClr val="bg1"/>
            </a:solidFill>
            <a:prstDash val="solid"/>
          </a:ln>
        </p:spPr>
      </p:sp>
      <p:sp>
        <p:nvSpPr>
          <p:cNvPr id="21" name="Text 19"/>
          <p:cNvSpPr txBox="1"/>
          <p:nvPr/>
        </p:nvSpPr>
        <p:spPr>
          <a:xfrm>
            <a:off x="548640" y="2340864"/>
            <a:ext cx="365760" cy="365760"/>
          </a:xfrm>
          <a:prstGeom prst="rect">
            <a:avLst/>
          </a:prstGeom>
          <a:noFill/>
          <a:ln/>
        </p:spPr>
        <p:txBody>
          <a:bodyPr wrap="square" lIns="0" tIns="0" rIns="0" bIns="0" rtlCol="0" anchor="ctr"/>
          <a:lstStyle/>
          <a:p>
            <a:pPr marL="0" indent="0" algn="ctr">
              <a:buNone/>
            </a:pPr>
            <a:r>
              <a:rPr lang="en-US" sz="1200" b="1" dirty="0">
                <a:solidFill>
                  <a:schemeClr val="bg1"/>
                </a:solidFill>
                <a:latin typeface="Times New Roman" panose="02020603050405020304" pitchFamily="18" charset="0"/>
                <a:cs typeface="Times New Roman" panose="02020603050405020304" pitchFamily="18" charset="0"/>
              </a:rPr>
              <a:t>3</a:t>
            </a:r>
            <a:endParaRPr lang="en-US" sz="1200" dirty="0">
              <a:latin typeface="Times New Roman" panose="02020603050405020304" pitchFamily="18" charset="0"/>
              <a:cs typeface="Times New Roman" panose="02020603050405020304" pitchFamily="18" charset="0"/>
            </a:endParaRPr>
          </a:p>
        </p:txBody>
      </p:sp>
      <p:sp>
        <p:nvSpPr>
          <p:cNvPr id="22" name="Text 20"/>
          <p:cNvSpPr txBox="1"/>
          <p:nvPr/>
        </p:nvSpPr>
        <p:spPr>
          <a:xfrm>
            <a:off x="1097280" y="2295144"/>
            <a:ext cx="4023360" cy="457200"/>
          </a:xfrm>
          <a:prstGeom prst="rect">
            <a:avLst/>
          </a:prstGeom>
          <a:noFill/>
          <a:ln/>
        </p:spPr>
        <p:txBody>
          <a:bodyPr wrap="square" lIns="0" tIns="0" rIns="0" bIns="0" rtlCol="0" anchor="ctr"/>
          <a:lstStyle/>
          <a:p>
            <a:pPr marL="0" indent="0">
              <a:buNone/>
            </a:pPr>
            <a:r>
              <a:rPr lang="en-US" sz="1300" dirty="0">
                <a:solidFill>
                  <a:schemeClr val="tx1"/>
                </a:solidFill>
                <a:latin typeface="Times New Roman" panose="02020603050405020304" pitchFamily="18" charset="0"/>
                <a:cs typeface="Times New Roman" panose="02020603050405020304" pitchFamily="18" charset="0"/>
              </a:rPr>
              <a:t>Backend and authentication development</a:t>
            </a:r>
            <a:endParaRPr lang="en-US" sz="1300" dirty="0">
              <a:latin typeface="Times New Roman" panose="02020603050405020304" pitchFamily="18" charset="0"/>
              <a:cs typeface="Times New Roman" panose="02020603050405020304" pitchFamily="18" charset="0"/>
            </a:endParaRPr>
          </a:p>
        </p:txBody>
      </p:sp>
      <p:sp>
        <p:nvSpPr>
          <p:cNvPr id="26" name="Stage 4 marker"/>
          <p:cNvSpPr/>
          <p:nvPr/>
        </p:nvSpPr>
        <p:spPr>
          <a:xfrm>
            <a:off x="548640" y="2802636"/>
            <a:ext cx="365760" cy="365760"/>
          </a:xfrm>
          <a:prstGeom prst="ellipse">
            <a:avLst/>
          </a:prstGeom>
          <a:solidFill>
            <a:schemeClr val="accent2"/>
          </a:solidFill>
          <a:ln w="19050">
            <a:solidFill>
              <a:schemeClr val="bg1"/>
            </a:solidFill>
            <a:prstDash val="solid"/>
          </a:ln>
        </p:spPr>
      </p:sp>
      <p:sp>
        <p:nvSpPr>
          <p:cNvPr id="27" name="Text 25"/>
          <p:cNvSpPr txBox="1"/>
          <p:nvPr/>
        </p:nvSpPr>
        <p:spPr>
          <a:xfrm>
            <a:off x="548640" y="2802636"/>
            <a:ext cx="365760" cy="365760"/>
          </a:xfrm>
          <a:prstGeom prst="rect">
            <a:avLst/>
          </a:prstGeom>
          <a:noFill/>
          <a:ln/>
        </p:spPr>
        <p:txBody>
          <a:bodyPr wrap="square" lIns="0" tIns="0" rIns="0" bIns="0" rtlCol="0" anchor="ctr"/>
          <a:lstStyle/>
          <a:p>
            <a:pPr marL="0" indent="0" algn="ctr">
              <a:buNone/>
            </a:pPr>
            <a:r>
              <a:rPr lang="en-US" sz="1200" b="1" dirty="0">
                <a:solidFill>
                  <a:schemeClr val="bg1"/>
                </a:solidFill>
                <a:latin typeface="Times New Roman" panose="02020603050405020304" pitchFamily="18" charset="0"/>
                <a:cs typeface="Times New Roman" panose="02020603050405020304" pitchFamily="18" charset="0"/>
              </a:rPr>
              <a:t>4</a:t>
            </a:r>
            <a:endParaRPr lang="en-US" sz="1200" dirty="0">
              <a:latin typeface="Times New Roman" panose="02020603050405020304" pitchFamily="18" charset="0"/>
              <a:cs typeface="Times New Roman" panose="02020603050405020304" pitchFamily="18" charset="0"/>
            </a:endParaRPr>
          </a:p>
        </p:txBody>
      </p:sp>
      <p:sp>
        <p:nvSpPr>
          <p:cNvPr id="28" name="Text 26"/>
          <p:cNvSpPr txBox="1"/>
          <p:nvPr/>
        </p:nvSpPr>
        <p:spPr>
          <a:xfrm>
            <a:off x="1097280" y="2756916"/>
            <a:ext cx="4023360" cy="457200"/>
          </a:xfrm>
          <a:prstGeom prst="rect">
            <a:avLst/>
          </a:prstGeom>
          <a:noFill/>
          <a:ln/>
        </p:spPr>
        <p:txBody>
          <a:bodyPr wrap="square" lIns="0" tIns="0" rIns="0" bIns="0" rtlCol="0" anchor="ctr"/>
          <a:lstStyle/>
          <a:p>
            <a:pPr marL="0" indent="0">
              <a:buNone/>
            </a:pPr>
            <a:r>
              <a:rPr lang="en-US" sz="1300" dirty="0">
                <a:solidFill>
                  <a:schemeClr val="tx1"/>
                </a:solidFill>
                <a:latin typeface="Times New Roman" panose="02020603050405020304" pitchFamily="18" charset="0"/>
                <a:cs typeface="Times New Roman" panose="02020603050405020304" pitchFamily="18" charset="0"/>
              </a:rPr>
              <a:t>Medication scheduling and reminder implementation</a:t>
            </a:r>
            <a:endParaRPr lang="en-US" sz="1300" dirty="0">
              <a:latin typeface="Times New Roman" panose="02020603050405020304" pitchFamily="18" charset="0"/>
              <a:cs typeface="Times New Roman" panose="02020603050405020304" pitchFamily="18" charset="0"/>
            </a:endParaRPr>
          </a:p>
        </p:txBody>
      </p:sp>
      <p:sp>
        <p:nvSpPr>
          <p:cNvPr id="32" name="Stage 5 marker"/>
          <p:cNvSpPr/>
          <p:nvPr/>
        </p:nvSpPr>
        <p:spPr>
          <a:xfrm>
            <a:off x="548640" y="3264408"/>
            <a:ext cx="365760" cy="365760"/>
          </a:xfrm>
          <a:prstGeom prst="ellipse">
            <a:avLst/>
          </a:prstGeom>
          <a:solidFill>
            <a:schemeClr val="accent2"/>
          </a:solidFill>
          <a:ln w="19050">
            <a:solidFill>
              <a:schemeClr val="bg1"/>
            </a:solidFill>
            <a:prstDash val="solid"/>
          </a:ln>
        </p:spPr>
      </p:sp>
      <p:sp>
        <p:nvSpPr>
          <p:cNvPr id="33" name="Text 31"/>
          <p:cNvSpPr txBox="1"/>
          <p:nvPr/>
        </p:nvSpPr>
        <p:spPr>
          <a:xfrm>
            <a:off x="548640" y="3264408"/>
            <a:ext cx="365760" cy="365760"/>
          </a:xfrm>
          <a:prstGeom prst="rect">
            <a:avLst/>
          </a:prstGeom>
          <a:noFill/>
          <a:ln/>
        </p:spPr>
        <p:txBody>
          <a:bodyPr wrap="square" lIns="0" tIns="0" rIns="0" bIns="0" rtlCol="0" anchor="ctr"/>
          <a:lstStyle/>
          <a:p>
            <a:pPr marL="0" indent="0" algn="ctr">
              <a:buNone/>
            </a:pPr>
            <a:r>
              <a:rPr lang="en-US" sz="1200" b="1" dirty="0">
                <a:solidFill>
                  <a:schemeClr val="bg1"/>
                </a:solidFill>
                <a:latin typeface="Times New Roman" panose="02020603050405020304" pitchFamily="18" charset="0"/>
                <a:cs typeface="Times New Roman" panose="02020603050405020304" pitchFamily="18" charset="0"/>
              </a:rPr>
              <a:t>5</a:t>
            </a:r>
            <a:endParaRPr lang="en-US" sz="1200" dirty="0">
              <a:latin typeface="Times New Roman" panose="02020603050405020304" pitchFamily="18" charset="0"/>
              <a:cs typeface="Times New Roman" panose="02020603050405020304" pitchFamily="18" charset="0"/>
            </a:endParaRPr>
          </a:p>
        </p:txBody>
      </p:sp>
      <p:sp>
        <p:nvSpPr>
          <p:cNvPr id="34" name="Text 32"/>
          <p:cNvSpPr txBox="1"/>
          <p:nvPr/>
        </p:nvSpPr>
        <p:spPr>
          <a:xfrm>
            <a:off x="1097280" y="3218688"/>
            <a:ext cx="4023360" cy="457200"/>
          </a:xfrm>
          <a:prstGeom prst="rect">
            <a:avLst/>
          </a:prstGeom>
          <a:noFill/>
          <a:ln/>
        </p:spPr>
        <p:txBody>
          <a:bodyPr wrap="square" lIns="0" tIns="0" rIns="0" bIns="0" rtlCol="0" anchor="ctr"/>
          <a:lstStyle/>
          <a:p>
            <a:pPr marL="0" indent="0">
              <a:buNone/>
            </a:pPr>
            <a:r>
              <a:rPr lang="en-US" sz="1300" dirty="0">
                <a:solidFill>
                  <a:schemeClr val="tx1"/>
                </a:solidFill>
                <a:latin typeface="Times New Roman" panose="02020603050405020304" pitchFamily="18" charset="0"/>
                <a:cs typeface="Times New Roman" panose="02020603050405020304" pitchFamily="18" charset="0"/>
              </a:rPr>
              <a:t>Caregiver alerts and refill tracking</a:t>
            </a:r>
            <a:endParaRPr lang="en-US" sz="1300" dirty="0">
              <a:latin typeface="Times New Roman" panose="02020603050405020304" pitchFamily="18" charset="0"/>
              <a:cs typeface="Times New Roman" panose="02020603050405020304" pitchFamily="18" charset="0"/>
            </a:endParaRPr>
          </a:p>
        </p:txBody>
      </p:sp>
      <p:sp>
        <p:nvSpPr>
          <p:cNvPr id="38" name="Stage 6 marker"/>
          <p:cNvSpPr/>
          <p:nvPr/>
        </p:nvSpPr>
        <p:spPr>
          <a:xfrm>
            <a:off x="548640" y="3726180"/>
            <a:ext cx="365760" cy="365760"/>
          </a:xfrm>
          <a:prstGeom prst="ellipse">
            <a:avLst/>
          </a:prstGeom>
          <a:solidFill>
            <a:schemeClr val="accent2"/>
          </a:solidFill>
          <a:ln w="19050">
            <a:solidFill>
              <a:schemeClr val="bg1"/>
            </a:solidFill>
            <a:prstDash val="solid"/>
          </a:ln>
        </p:spPr>
      </p:sp>
      <p:sp>
        <p:nvSpPr>
          <p:cNvPr id="39" name="Text 37"/>
          <p:cNvSpPr txBox="1"/>
          <p:nvPr/>
        </p:nvSpPr>
        <p:spPr>
          <a:xfrm>
            <a:off x="548640" y="3726180"/>
            <a:ext cx="365760" cy="365760"/>
          </a:xfrm>
          <a:prstGeom prst="rect">
            <a:avLst/>
          </a:prstGeom>
          <a:noFill/>
          <a:ln/>
        </p:spPr>
        <p:txBody>
          <a:bodyPr wrap="square" lIns="0" tIns="0" rIns="0" bIns="0" rtlCol="0" anchor="ctr"/>
          <a:lstStyle/>
          <a:p>
            <a:pPr marL="0" indent="0" algn="ctr">
              <a:buNone/>
            </a:pPr>
            <a:r>
              <a:rPr lang="en-US" sz="1200" b="1" dirty="0">
                <a:solidFill>
                  <a:schemeClr val="bg1"/>
                </a:solidFill>
                <a:latin typeface="Times New Roman" panose="02020603050405020304" pitchFamily="18" charset="0"/>
                <a:cs typeface="Times New Roman" panose="02020603050405020304" pitchFamily="18" charset="0"/>
              </a:rPr>
              <a:t>6</a:t>
            </a:r>
            <a:endParaRPr lang="en-US" sz="1200" dirty="0">
              <a:latin typeface="Times New Roman" panose="02020603050405020304" pitchFamily="18" charset="0"/>
              <a:cs typeface="Times New Roman" panose="02020603050405020304" pitchFamily="18" charset="0"/>
            </a:endParaRPr>
          </a:p>
        </p:txBody>
      </p:sp>
      <p:sp>
        <p:nvSpPr>
          <p:cNvPr id="40" name="Text 38"/>
          <p:cNvSpPr txBox="1"/>
          <p:nvPr/>
        </p:nvSpPr>
        <p:spPr>
          <a:xfrm>
            <a:off x="1097280" y="3680460"/>
            <a:ext cx="4023360" cy="457200"/>
          </a:xfrm>
          <a:prstGeom prst="rect">
            <a:avLst/>
          </a:prstGeom>
          <a:noFill/>
          <a:ln/>
        </p:spPr>
        <p:txBody>
          <a:bodyPr wrap="square" lIns="0" tIns="0" rIns="0" bIns="0" rtlCol="0" anchor="ctr"/>
          <a:lstStyle/>
          <a:p>
            <a:pPr marL="0" indent="0">
              <a:buNone/>
            </a:pPr>
            <a:r>
              <a:rPr lang="en-US" sz="1300" dirty="0">
                <a:solidFill>
                  <a:schemeClr val="tx1"/>
                </a:solidFill>
                <a:latin typeface="Times New Roman" panose="02020603050405020304" pitchFamily="18" charset="0"/>
                <a:cs typeface="Times New Roman" panose="02020603050405020304" pitchFamily="18" charset="0"/>
              </a:rPr>
              <a:t>Integration, testing, and security checks</a:t>
            </a:r>
            <a:endParaRPr lang="en-US" sz="1300" dirty="0">
              <a:latin typeface="Times New Roman" panose="02020603050405020304" pitchFamily="18" charset="0"/>
              <a:cs typeface="Times New Roman" panose="02020603050405020304" pitchFamily="18" charset="0"/>
            </a:endParaRPr>
          </a:p>
        </p:txBody>
      </p:sp>
      <p:sp>
        <p:nvSpPr>
          <p:cNvPr id="44" name="Stage 7 marker"/>
          <p:cNvSpPr/>
          <p:nvPr/>
        </p:nvSpPr>
        <p:spPr>
          <a:xfrm>
            <a:off x="548640" y="4187952"/>
            <a:ext cx="365760" cy="365760"/>
          </a:xfrm>
          <a:prstGeom prst="ellipse">
            <a:avLst/>
          </a:prstGeom>
          <a:solidFill>
            <a:schemeClr val="accent2"/>
          </a:solidFill>
          <a:ln w="19050">
            <a:solidFill>
              <a:schemeClr val="bg1"/>
            </a:solidFill>
            <a:prstDash val="solid"/>
          </a:ln>
        </p:spPr>
      </p:sp>
      <p:sp>
        <p:nvSpPr>
          <p:cNvPr id="45" name="Text 43"/>
          <p:cNvSpPr txBox="1"/>
          <p:nvPr/>
        </p:nvSpPr>
        <p:spPr>
          <a:xfrm>
            <a:off x="548640" y="4187952"/>
            <a:ext cx="365760" cy="365760"/>
          </a:xfrm>
          <a:prstGeom prst="rect">
            <a:avLst/>
          </a:prstGeom>
          <a:noFill/>
          <a:ln/>
        </p:spPr>
        <p:txBody>
          <a:bodyPr wrap="square" lIns="0" tIns="0" rIns="0" bIns="0" rtlCol="0" anchor="ctr"/>
          <a:lstStyle/>
          <a:p>
            <a:pPr marL="0" indent="0" algn="ctr">
              <a:buNone/>
            </a:pPr>
            <a:r>
              <a:rPr lang="en-US" sz="1200" b="1" dirty="0">
                <a:solidFill>
                  <a:schemeClr val="bg1"/>
                </a:solidFill>
                <a:latin typeface="Times New Roman" panose="02020603050405020304" pitchFamily="18" charset="0"/>
                <a:cs typeface="Times New Roman" panose="02020603050405020304" pitchFamily="18" charset="0"/>
              </a:rPr>
              <a:t>7</a:t>
            </a:r>
            <a:endParaRPr lang="en-US" sz="1200" dirty="0">
              <a:latin typeface="Times New Roman" panose="02020603050405020304" pitchFamily="18" charset="0"/>
              <a:cs typeface="Times New Roman" panose="02020603050405020304" pitchFamily="18" charset="0"/>
            </a:endParaRPr>
          </a:p>
        </p:txBody>
      </p:sp>
      <p:sp>
        <p:nvSpPr>
          <p:cNvPr id="46" name="Text 44"/>
          <p:cNvSpPr txBox="1"/>
          <p:nvPr/>
        </p:nvSpPr>
        <p:spPr>
          <a:xfrm>
            <a:off x="1097280" y="4142232"/>
            <a:ext cx="4023360" cy="457200"/>
          </a:xfrm>
          <a:prstGeom prst="rect">
            <a:avLst/>
          </a:prstGeom>
          <a:noFill/>
          <a:ln/>
        </p:spPr>
        <p:txBody>
          <a:bodyPr wrap="square" lIns="0" tIns="0" rIns="0" bIns="0" rtlCol="0" anchor="ctr"/>
          <a:lstStyle/>
          <a:p>
            <a:pPr marL="0" indent="0">
              <a:buNone/>
            </a:pPr>
            <a:r>
              <a:rPr lang="en-US" sz="1300" dirty="0">
                <a:solidFill>
                  <a:schemeClr val="tx1"/>
                </a:solidFill>
                <a:latin typeface="Times New Roman" panose="02020603050405020304" pitchFamily="18" charset="0"/>
                <a:cs typeface="Times New Roman" panose="02020603050405020304" pitchFamily="18" charset="0"/>
              </a:rPr>
              <a:t>Final review and documentation</a:t>
            </a:r>
            <a:endParaRPr lang="en-US" sz="1300" dirty="0">
              <a:latin typeface="Times New Roman" panose="02020603050405020304" pitchFamily="18" charset="0"/>
              <a:cs typeface="Times New Roman" panose="02020603050405020304" pitchFamily="18" charset="0"/>
            </a:endParaRPr>
          </a:p>
        </p:txBody>
      </p:sp>
      <p:pic>
        <p:nvPicPr>
          <p:cNvPr id="52" name="Picture 51">
            <a:extLst>
              <a:ext uri="{FF2B5EF4-FFF2-40B4-BE49-F238E27FC236}">
                <a16:creationId xmlns:a16="http://schemas.microsoft.com/office/drawing/2014/main" id="{8C198D6D-A5D2-AC49-2596-E48643CFED45}"/>
              </a:ext>
            </a:extLst>
          </p:cNvPr>
          <p:cNvPicPr>
            <a:picLocks noChangeAspect="1"/>
          </p:cNvPicPr>
          <p:nvPr/>
        </p:nvPicPr>
        <p:blipFill>
          <a:blip r:embed="rId3"/>
          <a:stretch>
            <a:fillRect/>
          </a:stretch>
        </p:blipFill>
        <p:spPr>
          <a:xfrm>
            <a:off x="7227208" y="203457"/>
            <a:ext cx="1377296" cy="37337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594360"/>
          </a:xfrm>
          <a:prstGeom prst="rect">
            <a:avLst/>
          </a:prstGeom>
          <a:noFill/>
          <a:ln/>
        </p:spPr>
        <p:txBody>
          <a:bodyPr wrap="square" lIns="0" tIns="0" rIns="0" bIns="0" rtlCol="0" anchor="ctr"/>
          <a:lstStyle/>
          <a:p>
            <a:pPr marL="0" indent="0" algn="l">
              <a:buNone/>
            </a:pPr>
            <a:r>
              <a:rPr lang="en-US" sz="3200" b="1" dirty="0">
                <a:solidFill>
                  <a:schemeClr val="tx1"/>
                </a:solidFill>
                <a:latin typeface="Times New Roman" panose="02020603050405020304" pitchFamily="18" charset="0"/>
                <a:cs typeface="Times New Roman" panose="02020603050405020304" pitchFamily="18" charset="0"/>
              </a:rPr>
              <a:t>References</a:t>
            </a:r>
            <a:endParaRPr lang="en-US" sz="3200" dirty="0">
              <a:latin typeface="Times New Roman" panose="02020603050405020304" pitchFamily="18" charset="0"/>
              <a:cs typeface="Times New Roman" panose="02020603050405020304" pitchFamily="18" charset="0"/>
            </a:endParaRPr>
          </a:p>
        </p:txBody>
      </p:sp>
      <p:sp>
        <p:nvSpPr>
          <p:cNvPr id="3" name="Text 1"/>
          <p:cNvSpPr txBox="1"/>
          <p:nvPr/>
        </p:nvSpPr>
        <p:spPr>
          <a:xfrm>
            <a:off x="548640" y="1051560"/>
            <a:ext cx="4114800" cy="228600"/>
          </a:xfrm>
          <a:prstGeom prst="rect">
            <a:avLst/>
          </a:prstGeom>
          <a:noFill/>
          <a:ln/>
        </p:spPr>
        <p:txBody>
          <a:bodyPr wrap="square" lIns="0" tIns="0" rIns="0" bIns="0" rtlCol="0" anchor="t"/>
          <a:lstStyle/>
          <a:p>
            <a:pPr marL="0" indent="0">
              <a:buNone/>
            </a:pPr>
            <a:r>
              <a:rPr lang="en-US" sz="1000" b="1" kern="0" spc="200" dirty="0">
                <a:solidFill>
                  <a:schemeClr val="accent4"/>
                </a:solidFill>
                <a:latin typeface="Times New Roman" panose="02020603050405020304" pitchFamily="18" charset="0"/>
                <a:cs typeface="Times New Roman" panose="02020603050405020304" pitchFamily="18" charset="0"/>
              </a:rPr>
              <a:t>RESEARCH PAPERS AND SYSTEMS</a:t>
            </a:r>
            <a:endParaRPr lang="en-US" sz="1000" dirty="0">
              <a:latin typeface="Times New Roman" panose="02020603050405020304" pitchFamily="18" charset="0"/>
              <a:cs typeface="Times New Roman" panose="02020603050405020304" pitchFamily="18" charset="0"/>
            </a:endParaRPr>
          </a:p>
        </p:txBody>
      </p:sp>
      <p:sp>
        <p:nvSpPr>
          <p:cNvPr id="4" name="Text 2"/>
          <p:cNvSpPr txBox="1"/>
          <p:nvPr/>
        </p:nvSpPr>
        <p:spPr>
          <a:xfrm>
            <a:off x="548640" y="1325880"/>
            <a:ext cx="4114800" cy="3337560"/>
          </a:xfrm>
          <a:prstGeom prst="rect">
            <a:avLst/>
          </a:prstGeom>
          <a:noFill/>
          <a:ln/>
        </p:spPr>
        <p:txBody>
          <a:bodyPr wrap="square" lIns="0" tIns="0" rIns="0" bIns="0" rtlCol="0" anchor="t"/>
          <a:lstStyle/>
          <a:p>
            <a:pPr marL="0" indent="0">
              <a:spcAft>
                <a:spcPts val="500"/>
              </a:spcAft>
              <a:buNone/>
            </a:pPr>
            <a:r>
              <a:rPr lang="en-US" sz="950" dirty="0">
                <a:solidFill>
                  <a:schemeClr val="tx1"/>
                </a:solidFill>
                <a:latin typeface="Times New Roman" panose="02020603050405020304" pitchFamily="18" charset="0"/>
                <a:cs typeface="Times New Roman" panose="02020603050405020304" pitchFamily="18" charset="0"/>
              </a:rPr>
              <a:t>[1] S. K. Kim, S. Y. Park, H. R. Hwang, S. H. Moon, and J. W. Park, “Effectiveness of mobile health intervention in medication adherence: A systematic review and meta-analysis,” J. Med. Syst., vol. 49, art. no. 13, 2025, doi: 10.1007/s10916-024-02135-2.</a:t>
            </a:r>
            <a:endParaRPr lang="en-US" sz="950" dirty="0">
              <a:latin typeface="Times New Roman" panose="02020603050405020304" pitchFamily="18" charset="0"/>
              <a:cs typeface="Times New Roman" panose="02020603050405020304" pitchFamily="18" charset="0"/>
            </a:endParaRPr>
          </a:p>
          <a:p>
            <a:pPr marL="0" indent="0">
              <a:spcAft>
                <a:spcPts val="500"/>
              </a:spcAft>
              <a:buNone/>
            </a:pPr>
            <a:r>
              <a:rPr lang="en-US" sz="950" dirty="0">
                <a:solidFill>
                  <a:schemeClr val="tx1"/>
                </a:solidFill>
                <a:latin typeface="Times New Roman" panose="02020603050405020304" pitchFamily="18" charset="0"/>
                <a:cs typeface="Times New Roman" panose="02020603050405020304" pitchFamily="18" charset="0"/>
              </a:rPr>
              <a:t>[2] C. E. Hartch, M. S. Dietrich, and D. P. Stolldorf, “Effect of a medication adherence mobile phone app on medically underserved patients with chronic illness: Preliminary efficacy study,” JMIR Form. Res., vol. 7, art. no. e50579, Dec. 2023, doi: 10.2196/50579.</a:t>
            </a:r>
            <a:endParaRPr lang="en-US" sz="950" dirty="0">
              <a:latin typeface="Times New Roman" panose="02020603050405020304" pitchFamily="18" charset="0"/>
              <a:cs typeface="Times New Roman" panose="02020603050405020304" pitchFamily="18" charset="0"/>
            </a:endParaRPr>
          </a:p>
          <a:p>
            <a:pPr marL="0" indent="0">
              <a:spcAft>
                <a:spcPts val="500"/>
              </a:spcAft>
              <a:buNone/>
            </a:pPr>
            <a:r>
              <a:rPr lang="en-US" sz="950" dirty="0">
                <a:solidFill>
                  <a:schemeClr val="tx1"/>
                </a:solidFill>
                <a:latin typeface="Times New Roman" panose="02020603050405020304" pitchFamily="18" charset="0"/>
                <a:cs typeface="Times New Roman" panose="02020603050405020304" pitchFamily="18" charset="0"/>
              </a:rPr>
              <a:t>[3] L. C. Paul et al., “A smart medicine reminder kit with mobile phone calls and some health monitoring features for senior citizens,” Heliyon, vol. 10, no. 4, art. no. e26308, Feb. 2024, doi: 10.1016/j.heliyon.2024.e26308.</a:t>
            </a:r>
            <a:endParaRPr lang="en-US" sz="950" dirty="0">
              <a:latin typeface="Times New Roman" panose="02020603050405020304" pitchFamily="18" charset="0"/>
              <a:cs typeface="Times New Roman" panose="02020603050405020304" pitchFamily="18" charset="0"/>
            </a:endParaRPr>
          </a:p>
          <a:p>
            <a:pPr marL="0" indent="0">
              <a:spcAft>
                <a:spcPts val="500"/>
              </a:spcAft>
              <a:buNone/>
            </a:pPr>
            <a:r>
              <a:rPr lang="en-US" sz="950" dirty="0">
                <a:solidFill>
                  <a:schemeClr val="tx1"/>
                </a:solidFill>
                <a:latin typeface="Times New Roman" panose="02020603050405020304" pitchFamily="18" charset="0"/>
                <a:cs typeface="Times New Roman" panose="02020603050405020304" pitchFamily="18" charset="0"/>
              </a:rPr>
              <a:t>[4] V. O. Catindoy, D. B. Remot, S. J. L. Cabral, S. O. Honor, J. A. A. Palaña, and Y. M. C. Quijano, “Medication reminder and tracker application,” in Proc. 7th Int. Conf. Vocational Educ. Elect. Eng. (ICVEE), Oct. 2024, pp. 341–347, doi: 10.1109/ICVEE63912.2024.10823699.</a:t>
            </a:r>
            <a:endParaRPr lang="en-US" sz="950" dirty="0">
              <a:latin typeface="Times New Roman" panose="02020603050405020304" pitchFamily="18" charset="0"/>
              <a:cs typeface="Times New Roman" panose="02020603050405020304" pitchFamily="18" charset="0"/>
            </a:endParaRPr>
          </a:p>
          <a:p>
            <a:pPr marL="0" indent="0">
              <a:spcAft>
                <a:spcPts val="500"/>
              </a:spcAft>
              <a:buNone/>
            </a:pPr>
            <a:r>
              <a:rPr lang="en-US" sz="950" dirty="0">
                <a:solidFill>
                  <a:schemeClr val="tx1"/>
                </a:solidFill>
                <a:latin typeface="Times New Roman" panose="02020603050405020304" pitchFamily="18" charset="0"/>
                <a:cs typeface="Times New Roman" panose="02020603050405020304" pitchFamily="18" charset="0"/>
              </a:rPr>
              <a:t>[5] Z. Zhou, “Adhera: A human-centered health informatics solution for reducing informal caregiver burden through improved medication adherence,” arXiv:2512.03878, 2025 (preprint). [Online]. Available: https://arxiv.org/abs/2512.03878</a:t>
            </a:r>
            <a:endParaRPr lang="en-US" sz="950" dirty="0">
              <a:latin typeface="Times New Roman" panose="02020603050405020304" pitchFamily="18" charset="0"/>
              <a:cs typeface="Times New Roman" panose="02020603050405020304" pitchFamily="18" charset="0"/>
            </a:endParaRPr>
          </a:p>
        </p:txBody>
      </p:sp>
      <p:sp>
        <p:nvSpPr>
          <p:cNvPr id="5" name="Text 3"/>
          <p:cNvSpPr txBox="1"/>
          <p:nvPr/>
        </p:nvSpPr>
        <p:spPr>
          <a:xfrm>
            <a:off x="4846320" y="1051560"/>
            <a:ext cx="3749040" cy="228600"/>
          </a:xfrm>
          <a:prstGeom prst="rect">
            <a:avLst/>
          </a:prstGeom>
          <a:noFill/>
          <a:ln/>
        </p:spPr>
        <p:txBody>
          <a:bodyPr wrap="square" lIns="0" tIns="0" rIns="0" bIns="0" rtlCol="0" anchor="t"/>
          <a:lstStyle/>
          <a:p>
            <a:pPr marL="0" indent="0">
              <a:buNone/>
            </a:pPr>
            <a:r>
              <a:rPr lang="en-US" sz="1000" b="1" kern="0" spc="200" dirty="0">
                <a:solidFill>
                  <a:schemeClr val="accent4"/>
                </a:solidFill>
                <a:latin typeface="Times New Roman" panose="02020603050405020304" pitchFamily="18" charset="0"/>
                <a:cs typeface="Times New Roman" panose="02020603050405020304" pitchFamily="18" charset="0"/>
              </a:rPr>
              <a:t>OFFICIAL DOCUMENTATION AND STANDARDS</a:t>
            </a:r>
            <a:endParaRPr lang="en-US" sz="1000" dirty="0">
              <a:latin typeface="Times New Roman" panose="02020603050405020304" pitchFamily="18" charset="0"/>
              <a:cs typeface="Times New Roman" panose="02020603050405020304" pitchFamily="18" charset="0"/>
            </a:endParaRPr>
          </a:p>
        </p:txBody>
      </p:sp>
      <p:sp>
        <p:nvSpPr>
          <p:cNvPr id="6" name="Text 4"/>
          <p:cNvSpPr txBox="1"/>
          <p:nvPr/>
        </p:nvSpPr>
        <p:spPr>
          <a:xfrm>
            <a:off x="4846320" y="1325880"/>
            <a:ext cx="3749040" cy="3337560"/>
          </a:xfrm>
          <a:prstGeom prst="rect">
            <a:avLst/>
          </a:prstGeom>
          <a:noFill/>
          <a:ln/>
        </p:spPr>
        <p:txBody>
          <a:bodyPr wrap="square" lIns="0" tIns="0" rIns="0" bIns="0" rtlCol="0" anchor="t"/>
          <a:lstStyle/>
          <a:p>
            <a:pPr marL="0" indent="0">
              <a:spcAft>
                <a:spcPts val="500"/>
              </a:spcAft>
              <a:buNone/>
            </a:pPr>
            <a:r>
              <a:rPr lang="en-US" sz="950" dirty="0">
                <a:solidFill>
                  <a:schemeClr val="tx1"/>
                </a:solidFill>
                <a:latin typeface="Times New Roman" panose="02020603050405020304" pitchFamily="18" charset="0"/>
                <a:cs typeface="Times New Roman" panose="02020603050405020304" pitchFamily="18" charset="0"/>
              </a:rPr>
              <a:t>[6] Meta Platforms, Inc., “React documentation.” [Online]. Available: https://react.dev (accessed Oct. 9, 2026).</a:t>
            </a:r>
            <a:endParaRPr lang="en-US" sz="950" dirty="0">
              <a:latin typeface="Times New Roman" panose="02020603050405020304" pitchFamily="18" charset="0"/>
              <a:cs typeface="Times New Roman" panose="02020603050405020304" pitchFamily="18" charset="0"/>
            </a:endParaRPr>
          </a:p>
          <a:p>
            <a:pPr marL="0" indent="0">
              <a:spcAft>
                <a:spcPts val="500"/>
              </a:spcAft>
              <a:buNone/>
            </a:pPr>
            <a:r>
              <a:rPr lang="en-US" sz="950" dirty="0">
                <a:solidFill>
                  <a:schemeClr val="tx1"/>
                </a:solidFill>
                <a:latin typeface="Times New Roman" panose="02020603050405020304" pitchFamily="18" charset="0"/>
                <a:cs typeface="Times New Roman" panose="02020603050405020304" pitchFamily="18" charset="0"/>
              </a:rPr>
              <a:t>[7] OpenJS Foundation, “Express: Fast, unopinionated, minimalist web framework for Node.js.” [Online]. Available: https://expressjs.com (accessed Oct. 9, 2026).</a:t>
            </a:r>
            <a:endParaRPr lang="en-US" sz="950" dirty="0">
              <a:latin typeface="Times New Roman" panose="02020603050405020304" pitchFamily="18" charset="0"/>
              <a:cs typeface="Times New Roman" panose="02020603050405020304" pitchFamily="18" charset="0"/>
            </a:endParaRPr>
          </a:p>
          <a:p>
            <a:pPr marL="0" indent="0">
              <a:spcAft>
                <a:spcPts val="500"/>
              </a:spcAft>
              <a:buNone/>
            </a:pPr>
            <a:r>
              <a:rPr lang="en-US" sz="950" dirty="0">
                <a:solidFill>
                  <a:schemeClr val="tx1"/>
                </a:solidFill>
                <a:latin typeface="Times New Roman" panose="02020603050405020304" pitchFamily="18" charset="0"/>
                <a:cs typeface="Times New Roman" panose="02020603050405020304" pitchFamily="18" charset="0"/>
              </a:rPr>
              <a:t>[8] MongoDB, Inc., “MongoDB documentation.” [Online]. Available: https://www.mongodb.com/docs/ (accessed Oct. 9, 2026).</a:t>
            </a:r>
            <a:endParaRPr lang="en-US" sz="950" dirty="0">
              <a:latin typeface="Times New Roman" panose="02020603050405020304" pitchFamily="18" charset="0"/>
              <a:cs typeface="Times New Roman" panose="02020603050405020304" pitchFamily="18" charset="0"/>
            </a:endParaRPr>
          </a:p>
          <a:p>
            <a:pPr marL="0" indent="0">
              <a:spcAft>
                <a:spcPts val="500"/>
              </a:spcAft>
              <a:buNone/>
            </a:pPr>
            <a:r>
              <a:rPr lang="en-US" sz="950" dirty="0">
                <a:solidFill>
                  <a:schemeClr val="tx1"/>
                </a:solidFill>
                <a:latin typeface="Times New Roman" panose="02020603050405020304" pitchFamily="18" charset="0"/>
                <a:cs typeface="Times New Roman" panose="02020603050405020304" pitchFamily="18" charset="0"/>
              </a:rPr>
              <a:t>[9] Twilio Inc., “Programmable messaging.” [Online]. Available: https://www.twilio.com/docs/messaging (accessed Oct. 9, 2026).</a:t>
            </a:r>
            <a:endParaRPr lang="en-US" sz="950" dirty="0">
              <a:latin typeface="Times New Roman" panose="02020603050405020304" pitchFamily="18" charset="0"/>
              <a:cs typeface="Times New Roman" panose="02020603050405020304" pitchFamily="18" charset="0"/>
            </a:endParaRPr>
          </a:p>
          <a:p>
            <a:pPr marL="0" indent="0">
              <a:spcAft>
                <a:spcPts val="500"/>
              </a:spcAft>
              <a:buNone/>
            </a:pPr>
            <a:r>
              <a:rPr lang="en-US" sz="950" dirty="0">
                <a:solidFill>
                  <a:schemeClr val="tx1"/>
                </a:solidFill>
                <a:latin typeface="Times New Roman" panose="02020603050405020304" pitchFamily="18" charset="0"/>
                <a:cs typeface="Times New Roman" panose="02020603050405020304" pitchFamily="18" charset="0"/>
              </a:rPr>
              <a:t>[10] A. Reinman, “Nodemailer.” [Online]. Available: https://nodemailer.com (accessed Oct. 9, 2026).</a:t>
            </a:r>
            <a:endParaRPr lang="en-US" sz="950" dirty="0">
              <a:latin typeface="Times New Roman" panose="02020603050405020304" pitchFamily="18" charset="0"/>
              <a:cs typeface="Times New Roman" panose="02020603050405020304" pitchFamily="18" charset="0"/>
            </a:endParaRPr>
          </a:p>
          <a:p>
            <a:pPr marL="0" indent="0">
              <a:spcAft>
                <a:spcPts val="500"/>
              </a:spcAft>
              <a:buNone/>
            </a:pPr>
            <a:r>
              <a:rPr lang="en-US" sz="950" dirty="0">
                <a:solidFill>
                  <a:schemeClr val="tx1"/>
                </a:solidFill>
                <a:latin typeface="Times New Roman" panose="02020603050405020304" pitchFamily="18" charset="0"/>
                <a:cs typeface="Times New Roman" panose="02020603050405020304" pitchFamily="18" charset="0"/>
              </a:rPr>
              <a:t>[11] M. Jones, J. Bradley, and N. Sakimura, “JSON Web Token (JWT),” IETF, RFC 7519, May 2015. [Online]. Available: https://datatracker.ietf.org/doc/html/rfc7519</a:t>
            </a:r>
            <a:endParaRPr lang="en-US" sz="950" dirty="0">
              <a:latin typeface="Times New Roman" panose="02020603050405020304" pitchFamily="18" charset="0"/>
              <a:cs typeface="Times New Roman" panose="02020603050405020304" pitchFamily="18" charset="0"/>
            </a:endParaRPr>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B7B"/>
                </a:solidFill>
              </a:defRPr>
            </a:lvl1pPr>
          </a:lstStyle>
          <a:p>
            <a:pPr algn="r"/>
            <a:fld id="{F7021451-1387-4CA6-816F-3879F97B5CBC}" type="slidenum">
              <a:rPr lang="en-US" b="0">
                <a:latin typeface="Times New Roman" panose="02020603050405020304" pitchFamily="18" charset="0"/>
                <a:cs typeface="Times New Roman" panose="02020603050405020304" pitchFamily="18" charset="0"/>
              </a:rPr>
              <a:t>10</a:t>
            </a:fld>
            <a:endParaRPr lang="en-US">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24B8759F-49CE-9B51-45F3-67B61AB92751}"/>
              </a:ext>
            </a:extLst>
          </p:cNvPr>
          <p:cNvPicPr>
            <a:picLocks noChangeAspect="1"/>
          </p:cNvPicPr>
          <p:nvPr/>
        </p:nvPicPr>
        <p:blipFill>
          <a:blip r:embed="rId3"/>
          <a:stretch>
            <a:fillRect/>
          </a:stretch>
        </p:blipFill>
        <p:spPr>
          <a:xfrm>
            <a:off x="7227208" y="203457"/>
            <a:ext cx="1377296" cy="37337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8E3F2-BCF8-BCE1-DB91-FBF8DBA4785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7DB78C5-1D45-9948-7A30-BCA0E6F88A21}"/>
              </a:ext>
            </a:extLst>
          </p:cNvPr>
          <p:cNvSpPr>
            <a:spLocks noGrp="1"/>
          </p:cNvSpPr>
          <p:nvPr>
            <p:ph type="title" idx="100" hasCustomPrompt="1"/>
          </p:nvPr>
        </p:nvSpPr>
        <p:spPr>
          <a:xfrm>
            <a:off x="548640" y="2274570"/>
            <a:ext cx="8046720" cy="594360"/>
          </a:xfrm>
          <a:prstGeom prst="rect">
            <a:avLst/>
          </a:prstGeom>
          <a:noFill/>
          <a:ln/>
        </p:spPr>
        <p:txBody>
          <a:bodyPr wrap="square" lIns="0" tIns="0" rIns="0" bIns="0" rtlCol="0" anchor="ctr"/>
          <a:lstStyle/>
          <a:p>
            <a:pPr marL="0" indent="0" algn="ctr">
              <a:buNone/>
            </a:pPr>
            <a:r>
              <a:rPr lang="en-US" sz="3200" b="1" dirty="0">
                <a:solidFill>
                  <a:schemeClr val="tx1"/>
                </a:solidFill>
                <a:latin typeface="Times New Roman" panose="02020603050405020304" pitchFamily="18" charset="0"/>
                <a:cs typeface="Times New Roman" panose="02020603050405020304" pitchFamily="18" charset="0"/>
              </a:rPr>
              <a:t>Thank You</a:t>
            </a:r>
            <a:endParaRPr lang="en-US" sz="3200" dirty="0">
              <a:latin typeface="Times New Roman" panose="02020603050405020304" pitchFamily="18" charset="0"/>
              <a:cs typeface="Times New Roman" panose="02020603050405020304" pitchFamily="18" charset="0"/>
            </a:endParaRPr>
          </a:p>
        </p:txBody>
      </p:sp>
      <p:sp>
        <p:nvSpPr>
          <p:cNvPr id="25" name="Slide Number Placeholder 0">
            <a:extLst>
              <a:ext uri="{FF2B5EF4-FFF2-40B4-BE49-F238E27FC236}">
                <a16:creationId xmlns:a16="http://schemas.microsoft.com/office/drawing/2014/main" id="{9D30A712-D863-8495-1BE3-D0ED8EFB34F8}"/>
              </a:ext>
            </a:extLst>
          </p:cNvPr>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defRPr>
            </a:lvl1pPr>
          </a:lstStyle>
          <a:p>
            <a:pPr algn="r"/>
            <a:fld id="{F7021451-1387-4CA6-816F-3879F97B5CBC}" type="slidenum">
              <a:rPr lang="en-US" b="0">
                <a:latin typeface="Times New Roman" panose="02020603050405020304" pitchFamily="18" charset="0"/>
                <a:cs typeface="Times New Roman" panose="02020603050405020304" pitchFamily="18" charset="0"/>
              </a:rPr>
              <a:t>11</a:t>
            </a:fld>
            <a:endParaRPr lang="en-US">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78C2365B-249F-A5D0-EC1B-81E8AB8F3782}"/>
              </a:ext>
            </a:extLst>
          </p:cNvPr>
          <p:cNvPicPr>
            <a:picLocks noChangeAspect="1"/>
          </p:cNvPicPr>
          <p:nvPr/>
        </p:nvPicPr>
        <p:blipFill>
          <a:blip r:embed="rId3"/>
          <a:stretch>
            <a:fillRect/>
          </a:stretch>
        </p:blipFill>
        <p:spPr>
          <a:xfrm>
            <a:off x="7227208" y="203457"/>
            <a:ext cx="1377296" cy="373378"/>
          </a:xfrm>
          <a:prstGeom prst="rect">
            <a:avLst/>
          </a:prstGeom>
        </p:spPr>
      </p:pic>
    </p:spTree>
    <p:extLst>
      <p:ext uri="{BB962C8B-B14F-4D97-AF65-F5344CB8AC3E}">
        <p14:creationId xmlns:p14="http://schemas.microsoft.com/office/powerpoint/2010/main" val="40393705"/>
      </p:ext>
    </p:extLst>
  </p:cSld>
  <p:clrMapOvr>
    <a:masterClrMapping/>
  </p:clrMapOvr>
</p:sld>
</file>

<file path=ppt/theme/theme1.xml><?xml version="1.0" encoding="utf-8"?>
<a:theme xmlns:a="http://schemas.openxmlformats.org/drawingml/2006/main" name="MedRemind Academic">
  <a:themeElements>
    <a:clrScheme name="MedRemind Academic">
      <a:dk1>
        <a:srgbClr val="0B2545"/>
      </a:dk1>
      <a:lt1>
        <a:srgbClr val="FFFFFF"/>
      </a:lt1>
      <a:dk2>
        <a:srgbClr val="5B6B7B"/>
      </a:dk2>
      <a:lt2>
        <a:srgbClr val="EEF4F8"/>
      </a:lt2>
      <a:accent1>
        <a:srgbClr val="0E8C86"/>
      </a:accent1>
      <a:accent2>
        <a:srgbClr val="0B2545"/>
      </a:accent2>
      <a:accent3>
        <a:srgbClr val="8FA3B8"/>
      </a:accent3>
      <a:accent4>
        <a:srgbClr val="0B6F6A"/>
      </a:accent4>
      <a:accent5>
        <a:srgbClr val="D3DEE8"/>
      </a:accent5>
      <a:accent6>
        <a:srgbClr val="8EDCD5"/>
      </a:accent6>
      <a:hlink>
        <a:srgbClr val="0E8C86"/>
      </a:hlink>
      <a:folHlink>
        <a:srgbClr val="5B6B7B"/>
      </a:folHlink>
    </a:clrScheme>
    <a:fontScheme name="MedRemind Academic">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233</TotalTime>
  <Words>1877</Words>
  <Application>Microsoft Office PowerPoint</Application>
  <PresentationFormat>On-screen Show (16:9)</PresentationFormat>
  <Paragraphs>181</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Times New Roman</vt:lpstr>
      <vt:lpstr>MedRemind Academic</vt:lpstr>
      <vt:lpstr>CSA4302 - INTERNET PROGRAMMING CareSync Medicine Tracker Family Medication &amp; Adherence Tracker</vt:lpstr>
      <vt:lpstr>Problem Statement</vt:lpstr>
      <vt:lpstr>Objectives</vt:lpstr>
      <vt:lpstr>Motivation and Need</vt:lpstr>
      <vt:lpstr>Literature Survey</vt:lpstr>
      <vt:lpstr>Proposed Solution</vt:lpstr>
      <vt:lpstr>System Architecture</vt:lpstr>
      <vt:lpstr>Tools and Technologies</vt:lpstr>
      <vt:lpstr>Work Plan</vt:lpstr>
      <vt:lpstr>References</vt:lpstr>
      <vt:lpstr>Thank You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MedRemind &amp; CareLink: Family Medication &amp; Adherence Tracker</dc:title>
  <dc:subject>PptxGenJS Presentation</dc:subject>
  <dc:creator>[Team]</dc:creator>
  <cp:lastModifiedBy>Jaya harish J</cp:lastModifiedBy>
  <cp:revision>6</cp:revision>
  <dcterms:created xsi:type="dcterms:W3CDTF">2026-10-09T03:15:40Z</dcterms:created>
  <dcterms:modified xsi:type="dcterms:W3CDTF">2026-10-14T07:12:54Z</dcterms:modified>
</cp:coreProperties>
</file>